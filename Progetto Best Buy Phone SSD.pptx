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56" r:id="rId5"/>
    <p:sldId id="257" r:id="rId6"/>
    <p:sldId id="258" r:id="rId7"/>
    <p:sldId id="320" r:id="rId8"/>
    <p:sldId id="328" r:id="rId9"/>
    <p:sldId id="322" r:id="rId10"/>
    <p:sldId id="323" r:id="rId11"/>
    <p:sldId id="325" r:id="rId12"/>
    <p:sldId id="324" r:id="rId13"/>
    <p:sldId id="326" r:id="rId14"/>
    <p:sldId id="327" r:id="rId15"/>
    <p:sldId id="261" r:id="rId16"/>
    <p:sldId id="263" r:id="rId17"/>
    <p:sldId id="309" r:id="rId18"/>
    <p:sldId id="310" r:id="rId19"/>
    <p:sldId id="313" r:id="rId20"/>
    <p:sldId id="311" r:id="rId21"/>
    <p:sldId id="316" r:id="rId22"/>
    <p:sldId id="329" r:id="rId23"/>
    <p:sldId id="330" r:id="rId24"/>
  </p:sldIdLst>
  <p:sldSz cx="6858000" cy="9144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E0B4"/>
    <a:srgbClr val="EDEBE9"/>
    <a:srgbClr val="44DBD4"/>
    <a:srgbClr val="A4EB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D659E5-9365-427D-AC12-8B0F53883DEA}" v="76" dt="2024-01-15T02:33:27.753"/>
    <p1510:client id="{1DD9E81C-98AA-47FF-9FDE-C5D6E2E52622}" v="22" dt="2024-01-15T02:52:15.434"/>
    <p1510:client id="{22DC46BF-F41B-456A-8B5F-7ECA346DD759}" v="4" dt="2024-01-15T02:24:48.821"/>
    <p1510:client id="{42C64C96-1A64-437D-A2F5-1B5D2E279807}" v="109" dt="2024-01-15T12:40:56.106"/>
    <p1510:client id="{50539534-5812-4B46-A1AD-38DA0C761CC8}" v="10" dt="2024-01-15T13:18:57.882"/>
    <p1510:client id="{5807BB37-7719-403D-A583-B38C1610BD0C}" v="3" dt="2024-01-15T02:53:17.494"/>
    <p1510:client id="{7B1135EC-3558-4ACA-9965-127AD7DFD4CB}" v="53" dt="2024-01-15T12:24:29.304"/>
    <p1510:client id="{85CB4BF5-F5A1-2449-A0FD-6BC169278040}" v="251" vWet="252" dt="2024-01-15T13:02:54.758"/>
    <p1510:client id="{A2F85755-0816-495D-8494-3D0E6D9E9750}" v="1" dt="2024-01-15T12:30:06.838"/>
    <p1510:client id="{BFEFB37C-AB4B-470E-9401-3F48E1C45D1F}" v="158" dt="2024-01-15T12:50:07.085"/>
    <p1510:client id="{C8CD113B-3CA2-4746-9428-ED5EB371D5C4}" v="247" dt="2024-01-15T13:03:55.455"/>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Stile chi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Stile chiaro 2 - Color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Stile con tema 1 - Color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Stile con tema 1 - Color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Stile con tema 1 - Color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Stile con tema 2 - Colore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Stile con tema 1 - Color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Stile con tema 1 - Colore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6F7E9-A6D9-4F9D-B732-B1B958510967}" type="datetimeFigureOut">
              <a:rPr lang="it-IT" smtClean="0"/>
              <a:t>16/01/2024</a:t>
            </a:fld>
            <a:endParaRPr lang="it-IT"/>
          </a:p>
        </p:txBody>
      </p:sp>
      <p:sp>
        <p:nvSpPr>
          <p:cNvPr id="4" name="Segnaposto immagine diapositiva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54E042-5F30-4188-8B16-4FBA695E2FD9}" type="slidenum">
              <a:rPr lang="it-IT" smtClean="0"/>
              <a:t>‹N›</a:t>
            </a:fld>
            <a:endParaRPr lang="it-IT"/>
          </a:p>
        </p:txBody>
      </p:sp>
    </p:spTree>
    <p:extLst>
      <p:ext uri="{BB962C8B-B14F-4D97-AF65-F5344CB8AC3E}">
        <p14:creationId xmlns:p14="http://schemas.microsoft.com/office/powerpoint/2010/main" val="2210479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857251" y="1496485"/>
            <a:ext cx="5143500" cy="3183467"/>
          </a:xfrm>
        </p:spPr>
        <p:txBody>
          <a:bodyPr anchor="b"/>
          <a:lstStyle>
            <a:lvl1pPr algn="ctr">
              <a:defRPr sz="2531"/>
            </a:lvl1pPr>
          </a:lstStyle>
          <a:p>
            <a:r>
              <a:rPr lang="it-IT"/>
              <a:t>Fare clic per modificare lo stile del titolo</a:t>
            </a:r>
            <a:endParaRPr lang="de-DE"/>
          </a:p>
        </p:txBody>
      </p:sp>
      <p:sp>
        <p:nvSpPr>
          <p:cNvPr id="3" name="Sottotitolo 2"/>
          <p:cNvSpPr>
            <a:spLocks noGrp="1"/>
          </p:cNvSpPr>
          <p:nvPr>
            <p:ph type="subTitle" idx="1"/>
          </p:nvPr>
        </p:nvSpPr>
        <p:spPr>
          <a:xfrm>
            <a:off x="857251" y="4802718"/>
            <a:ext cx="5143500" cy="2207683"/>
          </a:xfrm>
        </p:spPr>
        <p:txBody>
          <a:bodyPr/>
          <a:lstStyle>
            <a:lvl1pPr marL="0" indent="0" algn="ctr">
              <a:buNone/>
              <a:defRPr sz="1013"/>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it-IT"/>
              <a:t>Fare clic per modificare lo stile del sottotitolo dello schema</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16.01.2024</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186192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16.01.2024</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631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467916" y="2279657"/>
            <a:ext cx="5915026" cy="3803649"/>
          </a:xfrm>
        </p:spPr>
        <p:txBody>
          <a:bodyPr anchor="b"/>
          <a:lstStyle>
            <a:lvl1pPr>
              <a:defRPr sz="2531"/>
            </a:lvl1pPr>
          </a:lstStyle>
          <a:p>
            <a:r>
              <a:rPr lang="it-IT"/>
              <a:t>Fare clic per modificare lo stile del titolo</a:t>
            </a:r>
            <a:endParaRPr lang="de-DE"/>
          </a:p>
        </p:txBody>
      </p:sp>
      <p:sp>
        <p:nvSpPr>
          <p:cNvPr id="3" name="Segnaposto testo 2"/>
          <p:cNvSpPr>
            <a:spLocks noGrp="1"/>
          </p:cNvSpPr>
          <p:nvPr>
            <p:ph type="body" idx="1"/>
          </p:nvPr>
        </p:nvSpPr>
        <p:spPr>
          <a:xfrm>
            <a:off x="467916" y="6119292"/>
            <a:ext cx="5915026" cy="2000249"/>
          </a:xfrm>
        </p:spPr>
        <p:txBody>
          <a:bodyPr/>
          <a:lstStyle>
            <a:lvl1pPr marL="0" indent="0">
              <a:buNone/>
              <a:defRPr sz="1013">
                <a:solidFill>
                  <a:schemeClr val="tx1">
                    <a:tint val="75000"/>
                  </a:schemeClr>
                </a:solidFill>
              </a:defRPr>
            </a:lvl1pPr>
            <a:lvl2pPr marL="192881" indent="0">
              <a:buNone/>
              <a:defRPr sz="844">
                <a:solidFill>
                  <a:schemeClr val="tx1">
                    <a:tint val="75000"/>
                  </a:schemeClr>
                </a:solidFill>
              </a:defRPr>
            </a:lvl2pPr>
            <a:lvl3pPr marL="385763" indent="0">
              <a:buNone/>
              <a:defRPr sz="760">
                <a:solidFill>
                  <a:schemeClr val="tx1">
                    <a:tint val="75000"/>
                  </a:schemeClr>
                </a:solidFill>
              </a:defRPr>
            </a:lvl3pPr>
            <a:lvl4pPr marL="578644" indent="0">
              <a:buNone/>
              <a:defRPr sz="675">
                <a:solidFill>
                  <a:schemeClr val="tx1">
                    <a:tint val="75000"/>
                  </a:schemeClr>
                </a:solidFill>
              </a:defRPr>
            </a:lvl4pPr>
            <a:lvl5pPr marL="771525" indent="0">
              <a:buNone/>
              <a:defRPr sz="675">
                <a:solidFill>
                  <a:schemeClr val="tx1">
                    <a:tint val="75000"/>
                  </a:schemeClr>
                </a:solidFill>
              </a:defRPr>
            </a:lvl5pPr>
            <a:lvl6pPr marL="964406" indent="0">
              <a:buNone/>
              <a:defRPr sz="675">
                <a:solidFill>
                  <a:schemeClr val="tx1">
                    <a:tint val="75000"/>
                  </a:schemeClr>
                </a:solidFill>
              </a:defRPr>
            </a:lvl6pPr>
            <a:lvl7pPr marL="1157288" indent="0">
              <a:buNone/>
              <a:defRPr sz="675">
                <a:solidFill>
                  <a:schemeClr val="tx1">
                    <a:tint val="75000"/>
                  </a:schemeClr>
                </a:solidFill>
              </a:defRPr>
            </a:lvl7pPr>
            <a:lvl8pPr marL="1350169" indent="0">
              <a:buNone/>
              <a:defRPr sz="675">
                <a:solidFill>
                  <a:schemeClr val="tx1">
                    <a:tint val="75000"/>
                  </a:schemeClr>
                </a:solidFill>
              </a:defRPr>
            </a:lvl8pPr>
            <a:lvl9pPr marL="1543050" indent="0">
              <a:buNone/>
              <a:defRPr sz="675">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F64A8E5F-40E5-4553-9F3C-699F1A5B8145}" type="datetimeFigureOut">
              <a:rPr lang="de-DE" smtClean="0"/>
              <a:t>16.01.2024</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5773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sz="half" idx="1"/>
          </p:nvPr>
        </p:nvSpPr>
        <p:spPr>
          <a:xfrm>
            <a:off x="471490" y="2434167"/>
            <a:ext cx="2914651" cy="5801784"/>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contenuto 3"/>
          <p:cNvSpPr>
            <a:spLocks noGrp="1"/>
          </p:cNvSpPr>
          <p:nvPr>
            <p:ph sz="half" idx="2"/>
          </p:nvPr>
        </p:nvSpPr>
        <p:spPr>
          <a:xfrm>
            <a:off x="3471866" y="2434167"/>
            <a:ext cx="2914651" cy="5801784"/>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data 4"/>
          <p:cNvSpPr>
            <a:spLocks noGrp="1"/>
          </p:cNvSpPr>
          <p:nvPr>
            <p:ph type="dt" sz="half" idx="10"/>
          </p:nvPr>
        </p:nvSpPr>
        <p:spPr/>
        <p:txBody>
          <a:bodyPr/>
          <a:lstStyle/>
          <a:p>
            <a:fld id="{F64A8E5F-40E5-4553-9F3C-699F1A5B8145}" type="datetimeFigureOut">
              <a:rPr lang="de-DE" smtClean="0"/>
              <a:t>16.01.2024</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84089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72383" y="486840"/>
            <a:ext cx="5915026" cy="1767417"/>
          </a:xfrm>
        </p:spPr>
        <p:txBody>
          <a:bodyPr/>
          <a:lstStyle/>
          <a:p>
            <a:r>
              <a:rPr lang="it-IT"/>
              <a:t>Fare clic per modificare lo stile del titolo</a:t>
            </a:r>
            <a:endParaRPr lang="de-DE"/>
          </a:p>
        </p:txBody>
      </p:sp>
      <p:sp>
        <p:nvSpPr>
          <p:cNvPr id="3" name="Segnaposto testo 2"/>
          <p:cNvSpPr>
            <a:spLocks noGrp="1"/>
          </p:cNvSpPr>
          <p:nvPr>
            <p:ph type="body" idx="1"/>
          </p:nvPr>
        </p:nvSpPr>
        <p:spPr>
          <a:xfrm>
            <a:off x="472384" y="2241556"/>
            <a:ext cx="2901254" cy="1098549"/>
          </a:xfrm>
        </p:spPr>
        <p:txBody>
          <a:bodyPr anchor="b"/>
          <a:lstStyle>
            <a:lvl1pPr marL="0" indent="0">
              <a:buNone/>
              <a:defRPr sz="1013" b="1"/>
            </a:lvl1pPr>
            <a:lvl2pPr marL="192881" indent="0">
              <a:buNone/>
              <a:defRPr sz="844" b="1"/>
            </a:lvl2pPr>
            <a:lvl3pPr marL="385763" indent="0">
              <a:buNone/>
              <a:defRPr sz="760"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it-IT"/>
              <a:t>Fare clic per modificare stili del testo dello schema</a:t>
            </a:r>
          </a:p>
        </p:txBody>
      </p:sp>
      <p:sp>
        <p:nvSpPr>
          <p:cNvPr id="4" name="Segnaposto contenuto 3"/>
          <p:cNvSpPr>
            <a:spLocks noGrp="1"/>
          </p:cNvSpPr>
          <p:nvPr>
            <p:ph sz="half" idx="2"/>
          </p:nvPr>
        </p:nvSpPr>
        <p:spPr>
          <a:xfrm>
            <a:off x="472384" y="3340101"/>
            <a:ext cx="2901254" cy="4912784"/>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testo 4"/>
          <p:cNvSpPr>
            <a:spLocks noGrp="1"/>
          </p:cNvSpPr>
          <p:nvPr>
            <p:ph type="body" sz="quarter" idx="3"/>
          </p:nvPr>
        </p:nvSpPr>
        <p:spPr>
          <a:xfrm>
            <a:off x="3471869" y="2241556"/>
            <a:ext cx="2915543" cy="1098549"/>
          </a:xfrm>
        </p:spPr>
        <p:txBody>
          <a:bodyPr anchor="b"/>
          <a:lstStyle>
            <a:lvl1pPr marL="0" indent="0">
              <a:buNone/>
              <a:defRPr sz="1013" b="1"/>
            </a:lvl1pPr>
            <a:lvl2pPr marL="192881" indent="0">
              <a:buNone/>
              <a:defRPr sz="844" b="1"/>
            </a:lvl2pPr>
            <a:lvl3pPr marL="385763" indent="0">
              <a:buNone/>
              <a:defRPr sz="760"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it-IT"/>
              <a:t>Fare clic per modificare stili del testo dello schema</a:t>
            </a:r>
          </a:p>
        </p:txBody>
      </p:sp>
      <p:sp>
        <p:nvSpPr>
          <p:cNvPr id="6" name="Segnaposto contenuto 5"/>
          <p:cNvSpPr>
            <a:spLocks noGrp="1"/>
          </p:cNvSpPr>
          <p:nvPr>
            <p:ph sz="quarter" idx="4"/>
          </p:nvPr>
        </p:nvSpPr>
        <p:spPr>
          <a:xfrm>
            <a:off x="3471869" y="3340101"/>
            <a:ext cx="2915543" cy="4912784"/>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7" name="Segnaposto data 6"/>
          <p:cNvSpPr>
            <a:spLocks noGrp="1"/>
          </p:cNvSpPr>
          <p:nvPr>
            <p:ph type="dt" sz="half" idx="10"/>
          </p:nvPr>
        </p:nvSpPr>
        <p:spPr/>
        <p:txBody>
          <a:bodyPr/>
          <a:lstStyle/>
          <a:p>
            <a:fld id="{F64A8E5F-40E5-4553-9F3C-699F1A5B8145}" type="datetimeFigureOut">
              <a:rPr lang="de-DE" smtClean="0"/>
              <a:t>16.01.2024</a:t>
            </a:fld>
            <a:endParaRPr lang="de-DE"/>
          </a:p>
        </p:txBody>
      </p:sp>
      <p:sp>
        <p:nvSpPr>
          <p:cNvPr id="8" name="Segnaposto piè di pagina 7"/>
          <p:cNvSpPr>
            <a:spLocks noGrp="1"/>
          </p:cNvSpPr>
          <p:nvPr>
            <p:ph type="ftr" sz="quarter" idx="11"/>
          </p:nvPr>
        </p:nvSpPr>
        <p:spPr/>
        <p:txBody>
          <a:bodyPr/>
          <a:lstStyle/>
          <a:p>
            <a:endParaRPr lang="de-DE"/>
          </a:p>
        </p:txBody>
      </p:sp>
      <p:sp>
        <p:nvSpPr>
          <p:cNvPr id="9" name="Segnaposto numero diapositiva 8"/>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74798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data 2"/>
          <p:cNvSpPr>
            <a:spLocks noGrp="1"/>
          </p:cNvSpPr>
          <p:nvPr>
            <p:ph type="dt" sz="half" idx="10"/>
          </p:nvPr>
        </p:nvSpPr>
        <p:spPr/>
        <p:txBody>
          <a:bodyPr/>
          <a:lstStyle/>
          <a:p>
            <a:fld id="{F64A8E5F-40E5-4553-9F3C-699F1A5B8145}" type="datetimeFigureOut">
              <a:rPr lang="de-DE" smtClean="0"/>
              <a:t>16.01.2024</a:t>
            </a:fld>
            <a:endParaRPr lang="de-DE"/>
          </a:p>
        </p:txBody>
      </p:sp>
      <p:sp>
        <p:nvSpPr>
          <p:cNvPr id="4" name="Segnaposto piè di pagina 3"/>
          <p:cNvSpPr>
            <a:spLocks noGrp="1"/>
          </p:cNvSpPr>
          <p:nvPr>
            <p:ph type="ftr" sz="quarter" idx="11"/>
          </p:nvPr>
        </p:nvSpPr>
        <p:spPr/>
        <p:txBody>
          <a:bodyPr/>
          <a:lstStyle/>
          <a:p>
            <a:endParaRPr lang="de-DE"/>
          </a:p>
        </p:txBody>
      </p:sp>
      <p:sp>
        <p:nvSpPr>
          <p:cNvPr id="5" name="Segnaposto numero diapositiva 4"/>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31782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64A8E5F-40E5-4553-9F3C-699F1A5B8145}" type="datetimeFigureOut">
              <a:rPr lang="de-DE" smtClean="0"/>
              <a:t>16.01.2024</a:t>
            </a:fld>
            <a:endParaRPr lang="de-DE"/>
          </a:p>
        </p:txBody>
      </p:sp>
      <p:sp>
        <p:nvSpPr>
          <p:cNvPr id="3" name="Segnaposto piè di pagina 2"/>
          <p:cNvSpPr>
            <a:spLocks noGrp="1"/>
          </p:cNvSpPr>
          <p:nvPr>
            <p:ph type="ftr" sz="quarter" idx="11"/>
          </p:nvPr>
        </p:nvSpPr>
        <p:spPr/>
        <p:txBody>
          <a:bodyPr/>
          <a:lstStyle/>
          <a:p>
            <a:endParaRPr lang="de-DE"/>
          </a:p>
        </p:txBody>
      </p:sp>
      <p:sp>
        <p:nvSpPr>
          <p:cNvPr id="4" name="Segnaposto numero diapositiva 3"/>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89409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72384" y="609600"/>
            <a:ext cx="2211883" cy="2133600"/>
          </a:xfrm>
        </p:spPr>
        <p:txBody>
          <a:bodyPr anchor="b"/>
          <a:lstStyle>
            <a:lvl1pPr>
              <a:defRPr sz="1350"/>
            </a:lvl1pPr>
          </a:lstStyle>
          <a:p>
            <a:r>
              <a:rPr lang="it-IT"/>
              <a:t>Fare clic per modificare lo stile del titolo</a:t>
            </a:r>
            <a:endParaRPr lang="de-DE"/>
          </a:p>
        </p:txBody>
      </p:sp>
      <p:sp>
        <p:nvSpPr>
          <p:cNvPr id="3" name="Segnaposto contenuto 2"/>
          <p:cNvSpPr>
            <a:spLocks noGrp="1"/>
          </p:cNvSpPr>
          <p:nvPr>
            <p:ph idx="1"/>
          </p:nvPr>
        </p:nvSpPr>
        <p:spPr>
          <a:xfrm>
            <a:off x="2915549" y="1316573"/>
            <a:ext cx="3471863" cy="6498167"/>
          </a:xfrm>
        </p:spPr>
        <p:txBody>
          <a:bodyPr/>
          <a:lstStyle>
            <a:lvl1pPr>
              <a:defRPr sz="1350"/>
            </a:lvl1pPr>
            <a:lvl2pPr>
              <a:defRPr sz="1181"/>
            </a:lvl2pPr>
            <a:lvl3pPr>
              <a:defRPr sz="1013"/>
            </a:lvl3pPr>
            <a:lvl4pPr>
              <a:defRPr sz="844"/>
            </a:lvl4pPr>
            <a:lvl5pPr>
              <a:defRPr sz="844"/>
            </a:lvl5pPr>
            <a:lvl6pPr>
              <a:defRPr sz="844"/>
            </a:lvl6pPr>
            <a:lvl7pPr>
              <a:defRPr sz="844"/>
            </a:lvl7pPr>
            <a:lvl8pPr>
              <a:defRPr sz="844"/>
            </a:lvl8pPr>
            <a:lvl9pPr>
              <a:defRPr sz="844"/>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testo 3"/>
          <p:cNvSpPr>
            <a:spLocks noGrp="1"/>
          </p:cNvSpPr>
          <p:nvPr>
            <p:ph type="body" sz="half" idx="2"/>
          </p:nvPr>
        </p:nvSpPr>
        <p:spPr>
          <a:xfrm>
            <a:off x="472384" y="2743203"/>
            <a:ext cx="2211883" cy="5082117"/>
          </a:xfrm>
        </p:spPr>
        <p:txBody>
          <a:bodyPr/>
          <a:lstStyle>
            <a:lvl1pPr marL="0" indent="0">
              <a:buNone/>
              <a:defRPr sz="675"/>
            </a:lvl1pPr>
            <a:lvl2pPr marL="192881" indent="0">
              <a:buNone/>
              <a:defRPr sz="591"/>
            </a:lvl2pPr>
            <a:lvl3pPr marL="385763" indent="0">
              <a:buNone/>
              <a:defRPr sz="506"/>
            </a:lvl3pPr>
            <a:lvl4pPr marL="578644" indent="0">
              <a:buNone/>
              <a:defRPr sz="422"/>
            </a:lvl4pPr>
            <a:lvl5pPr marL="771525" indent="0">
              <a:buNone/>
              <a:defRPr sz="422"/>
            </a:lvl5pPr>
            <a:lvl6pPr marL="964406" indent="0">
              <a:buNone/>
              <a:defRPr sz="422"/>
            </a:lvl6pPr>
            <a:lvl7pPr marL="1157288" indent="0">
              <a:buNone/>
              <a:defRPr sz="422"/>
            </a:lvl7pPr>
            <a:lvl8pPr marL="1350169" indent="0">
              <a:buNone/>
              <a:defRPr sz="422"/>
            </a:lvl8pPr>
            <a:lvl9pPr marL="1543050" indent="0">
              <a:buNone/>
              <a:defRPr sz="422"/>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16.01.2024</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36581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72384" y="609600"/>
            <a:ext cx="2211883" cy="2133600"/>
          </a:xfrm>
        </p:spPr>
        <p:txBody>
          <a:bodyPr anchor="b"/>
          <a:lstStyle>
            <a:lvl1pPr>
              <a:defRPr sz="1350"/>
            </a:lvl1pPr>
          </a:lstStyle>
          <a:p>
            <a:r>
              <a:rPr lang="it-IT"/>
              <a:t>Fare clic per modificare lo stile del titolo</a:t>
            </a:r>
            <a:endParaRPr lang="de-DE"/>
          </a:p>
        </p:txBody>
      </p:sp>
      <p:sp>
        <p:nvSpPr>
          <p:cNvPr id="3" name="Segnaposto immagine 2"/>
          <p:cNvSpPr>
            <a:spLocks noGrp="1"/>
          </p:cNvSpPr>
          <p:nvPr>
            <p:ph type="pic" idx="1"/>
          </p:nvPr>
        </p:nvSpPr>
        <p:spPr>
          <a:xfrm>
            <a:off x="2915549" y="1316573"/>
            <a:ext cx="3471863" cy="6498167"/>
          </a:xfrm>
        </p:spPr>
        <p:txBody>
          <a:bodyPr/>
          <a:lstStyle>
            <a:lvl1pPr marL="0" indent="0">
              <a:buNone/>
              <a:defRPr sz="1350"/>
            </a:lvl1pPr>
            <a:lvl2pPr marL="192881" indent="0">
              <a:buNone/>
              <a:defRPr sz="1181"/>
            </a:lvl2pPr>
            <a:lvl3pPr marL="385763" indent="0">
              <a:buNone/>
              <a:defRPr sz="1013"/>
            </a:lvl3pPr>
            <a:lvl4pPr marL="578644" indent="0">
              <a:buNone/>
              <a:defRPr sz="844"/>
            </a:lvl4pPr>
            <a:lvl5pPr marL="771525" indent="0">
              <a:buNone/>
              <a:defRPr sz="844"/>
            </a:lvl5pPr>
            <a:lvl6pPr marL="964406" indent="0">
              <a:buNone/>
              <a:defRPr sz="844"/>
            </a:lvl6pPr>
            <a:lvl7pPr marL="1157288" indent="0">
              <a:buNone/>
              <a:defRPr sz="844"/>
            </a:lvl7pPr>
            <a:lvl8pPr marL="1350169" indent="0">
              <a:buNone/>
              <a:defRPr sz="844"/>
            </a:lvl8pPr>
            <a:lvl9pPr marL="1543050" indent="0">
              <a:buNone/>
              <a:defRPr sz="844"/>
            </a:lvl9pPr>
          </a:lstStyle>
          <a:p>
            <a:endParaRPr lang="de-DE"/>
          </a:p>
        </p:txBody>
      </p:sp>
      <p:sp>
        <p:nvSpPr>
          <p:cNvPr id="4" name="Segnaposto testo 3"/>
          <p:cNvSpPr>
            <a:spLocks noGrp="1"/>
          </p:cNvSpPr>
          <p:nvPr>
            <p:ph type="body" sz="half" idx="2"/>
          </p:nvPr>
        </p:nvSpPr>
        <p:spPr>
          <a:xfrm>
            <a:off x="472384" y="2743203"/>
            <a:ext cx="2211883" cy="5082117"/>
          </a:xfrm>
        </p:spPr>
        <p:txBody>
          <a:bodyPr/>
          <a:lstStyle>
            <a:lvl1pPr marL="0" indent="0">
              <a:buNone/>
              <a:defRPr sz="675"/>
            </a:lvl1pPr>
            <a:lvl2pPr marL="192881" indent="0">
              <a:buNone/>
              <a:defRPr sz="591"/>
            </a:lvl2pPr>
            <a:lvl3pPr marL="385763" indent="0">
              <a:buNone/>
              <a:defRPr sz="506"/>
            </a:lvl3pPr>
            <a:lvl4pPr marL="578644" indent="0">
              <a:buNone/>
              <a:defRPr sz="422"/>
            </a:lvl4pPr>
            <a:lvl5pPr marL="771525" indent="0">
              <a:buNone/>
              <a:defRPr sz="422"/>
            </a:lvl5pPr>
            <a:lvl6pPr marL="964406" indent="0">
              <a:buNone/>
              <a:defRPr sz="422"/>
            </a:lvl6pPr>
            <a:lvl7pPr marL="1157288" indent="0">
              <a:buNone/>
              <a:defRPr sz="422"/>
            </a:lvl7pPr>
            <a:lvl8pPr marL="1350169" indent="0">
              <a:buNone/>
              <a:defRPr sz="422"/>
            </a:lvl8pPr>
            <a:lvl9pPr marL="1543050" indent="0">
              <a:buNone/>
              <a:defRPr sz="422"/>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16.01.2024</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68857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1_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16.01.2024</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4244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4907758" y="486836"/>
            <a:ext cx="1478756" cy="7749117"/>
          </a:xfrm>
        </p:spPr>
        <p:txBody>
          <a:bodyPr vert="eaVert"/>
          <a:lstStyle/>
          <a:p>
            <a:r>
              <a:rPr lang="it-IT"/>
              <a:t>Fare clic per modificare lo stile del titolo</a:t>
            </a:r>
            <a:endParaRPr lang="de-DE"/>
          </a:p>
        </p:txBody>
      </p:sp>
      <p:sp>
        <p:nvSpPr>
          <p:cNvPr id="3" name="Segnaposto testo verticale 2"/>
          <p:cNvSpPr>
            <a:spLocks noGrp="1"/>
          </p:cNvSpPr>
          <p:nvPr>
            <p:ph type="body" orient="vert" idx="1"/>
          </p:nvPr>
        </p:nvSpPr>
        <p:spPr>
          <a:xfrm>
            <a:off x="471489" y="486836"/>
            <a:ext cx="4350544" cy="7749117"/>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16.01.2024</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026842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71489" y="486840"/>
            <a:ext cx="5915026" cy="1767417"/>
          </a:xfrm>
          <a:prstGeom prst="rect">
            <a:avLst/>
          </a:prstGeom>
        </p:spPr>
        <p:txBody>
          <a:bodyPr vert="horz" lIns="91440" tIns="45720" rIns="91440" bIns="45720" rtlCol="0" anchor="ctr">
            <a:normAutofit/>
          </a:bodyPr>
          <a:lstStyle/>
          <a:p>
            <a:r>
              <a:rPr lang="it-IT"/>
              <a:t>Fare clic per modificare lo stile del titolo</a:t>
            </a:r>
            <a:endParaRPr lang="de-DE"/>
          </a:p>
        </p:txBody>
      </p:sp>
      <p:sp>
        <p:nvSpPr>
          <p:cNvPr id="3" name="Segnaposto testo 2"/>
          <p:cNvSpPr>
            <a:spLocks noGrp="1"/>
          </p:cNvSpPr>
          <p:nvPr>
            <p:ph type="body" idx="1"/>
          </p:nvPr>
        </p:nvSpPr>
        <p:spPr>
          <a:xfrm>
            <a:off x="471489" y="2434167"/>
            <a:ext cx="5915026" cy="5801784"/>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2"/>
          </p:nvPr>
        </p:nvSpPr>
        <p:spPr>
          <a:xfrm>
            <a:off x="471490" y="8475141"/>
            <a:ext cx="1543051" cy="486833"/>
          </a:xfrm>
          <a:prstGeom prst="rect">
            <a:avLst/>
          </a:prstGeom>
        </p:spPr>
        <p:txBody>
          <a:bodyPr vert="horz" lIns="91440" tIns="45720" rIns="91440" bIns="45720" rtlCol="0" anchor="ctr"/>
          <a:lstStyle>
            <a:lvl1pPr algn="l">
              <a:defRPr sz="506">
                <a:solidFill>
                  <a:schemeClr val="tx1">
                    <a:tint val="75000"/>
                  </a:schemeClr>
                </a:solidFill>
              </a:defRPr>
            </a:lvl1pPr>
          </a:lstStyle>
          <a:p>
            <a:fld id="{F64A8E5F-40E5-4553-9F3C-699F1A5B8145}" type="datetimeFigureOut">
              <a:rPr lang="de-DE" smtClean="0"/>
              <a:t>16.01.2024</a:t>
            </a:fld>
            <a:endParaRPr lang="de-DE"/>
          </a:p>
        </p:txBody>
      </p:sp>
      <p:sp>
        <p:nvSpPr>
          <p:cNvPr id="5" name="Segnaposto piè di pagina 4"/>
          <p:cNvSpPr>
            <a:spLocks noGrp="1"/>
          </p:cNvSpPr>
          <p:nvPr>
            <p:ph type="ftr" sz="quarter" idx="3"/>
          </p:nvPr>
        </p:nvSpPr>
        <p:spPr>
          <a:xfrm>
            <a:off x="2271715" y="8475141"/>
            <a:ext cx="2314574" cy="486833"/>
          </a:xfrm>
          <a:prstGeom prst="rect">
            <a:avLst/>
          </a:prstGeom>
        </p:spPr>
        <p:txBody>
          <a:bodyPr vert="horz" lIns="91440" tIns="45720" rIns="91440" bIns="45720" rtlCol="0" anchor="ctr"/>
          <a:lstStyle>
            <a:lvl1pPr algn="ctr">
              <a:defRPr sz="506">
                <a:solidFill>
                  <a:schemeClr val="tx1">
                    <a:tint val="75000"/>
                  </a:schemeClr>
                </a:solidFill>
              </a:defRPr>
            </a:lvl1pPr>
          </a:lstStyle>
          <a:p>
            <a:endParaRPr lang="de-DE"/>
          </a:p>
        </p:txBody>
      </p:sp>
      <p:sp>
        <p:nvSpPr>
          <p:cNvPr id="6" name="Segnaposto numero diapositiva 5"/>
          <p:cNvSpPr>
            <a:spLocks noGrp="1"/>
          </p:cNvSpPr>
          <p:nvPr>
            <p:ph type="sldNum" sz="quarter" idx="4"/>
          </p:nvPr>
        </p:nvSpPr>
        <p:spPr>
          <a:xfrm>
            <a:off x="4843466" y="8475141"/>
            <a:ext cx="1543051" cy="486833"/>
          </a:xfrm>
          <a:prstGeom prst="rect">
            <a:avLst/>
          </a:prstGeom>
        </p:spPr>
        <p:txBody>
          <a:bodyPr vert="horz" lIns="91440" tIns="45720" rIns="91440" bIns="45720" rtlCol="0" anchor="ctr"/>
          <a:lstStyle>
            <a:lvl1pPr algn="r">
              <a:defRPr sz="506">
                <a:solidFill>
                  <a:schemeClr val="tx1">
                    <a:tint val="75000"/>
                  </a:schemeClr>
                </a:solidFill>
              </a:defRPr>
            </a:lvl1pPr>
          </a:lstStyle>
          <a:p>
            <a:fld id="{66CD45B7-DFE2-4393-8D37-380FC36BF3AA}" type="slidenum">
              <a:rPr lang="de-DE" smtClean="0"/>
              <a:t>‹N›</a:t>
            </a:fld>
            <a:endParaRPr lang="de-DE"/>
          </a:p>
        </p:txBody>
      </p:sp>
    </p:spTree>
    <p:extLst>
      <p:ext uri="{BB962C8B-B14F-4D97-AF65-F5344CB8AC3E}">
        <p14:creationId xmlns:p14="http://schemas.microsoft.com/office/powerpoint/2010/main" val="18019314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slide" Target="slide5.xml"/><Relationship Id="rId7" Type="http://schemas.openxmlformats.org/officeDocument/2006/relationships/slide" Target="slide17.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13.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emblema, simbolo, arte, cerchio&#10;&#10;Descrizione generata automaticamente">
            <a:extLst>
              <a:ext uri="{FF2B5EF4-FFF2-40B4-BE49-F238E27FC236}">
                <a16:creationId xmlns:a16="http://schemas.microsoft.com/office/drawing/2014/main" id="{4FACFE3F-B9F7-D0E6-4EAC-A3B3C598514E}"/>
              </a:ext>
            </a:extLst>
          </p:cNvPr>
          <p:cNvPicPr>
            <a:picLocks noChangeAspect="1"/>
          </p:cNvPicPr>
          <p:nvPr/>
        </p:nvPicPr>
        <p:blipFill>
          <a:blip r:embed="rId2"/>
          <a:stretch>
            <a:fillRect/>
          </a:stretch>
        </p:blipFill>
        <p:spPr>
          <a:xfrm>
            <a:off x="2349601" y="155293"/>
            <a:ext cx="2158795" cy="2170001"/>
          </a:xfrm>
          <a:prstGeom prst="rect">
            <a:avLst/>
          </a:prstGeom>
        </p:spPr>
      </p:pic>
      <p:sp>
        <p:nvSpPr>
          <p:cNvPr id="5" name="CasellaDiTesto 4">
            <a:extLst>
              <a:ext uri="{FF2B5EF4-FFF2-40B4-BE49-F238E27FC236}">
                <a16:creationId xmlns:a16="http://schemas.microsoft.com/office/drawing/2014/main" id="{2DDA91F5-9F01-7A79-A059-29E6D35A766F}"/>
              </a:ext>
            </a:extLst>
          </p:cNvPr>
          <p:cNvSpPr txBox="1"/>
          <p:nvPr/>
        </p:nvSpPr>
        <p:spPr>
          <a:xfrm>
            <a:off x="1158627" y="3712071"/>
            <a:ext cx="1157288" cy="155812"/>
          </a:xfrm>
          <a:prstGeom prst="rect">
            <a:avLst/>
          </a:prstGeom>
          <a:noFill/>
        </p:spPr>
        <p:txBody>
          <a:bodyPr rot="0" spcFirstLastPara="0" vertOverflow="overflow" horzOverflow="overflow" vert="horz" wrap="square" lIns="38576" tIns="19289" rIns="38576" bIns="19289" numCol="1" spcCol="0" rtlCol="0" fromWordArt="0" anchor="t" anchorCtr="0" forceAA="0" compatLnSpc="1">
            <a:prstTxWarp prst="textNoShape">
              <a:avLst/>
            </a:prstTxWarp>
            <a:spAutoFit/>
          </a:bodyPr>
          <a:ls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US" sz="760"/>
          </a:p>
        </p:txBody>
      </p:sp>
      <p:sp>
        <p:nvSpPr>
          <p:cNvPr id="2" name="CasellaDiTesto 1">
            <a:extLst>
              <a:ext uri="{FF2B5EF4-FFF2-40B4-BE49-F238E27FC236}">
                <a16:creationId xmlns:a16="http://schemas.microsoft.com/office/drawing/2014/main" id="{6C2A737B-3DC7-4214-941B-262595E38956}"/>
              </a:ext>
            </a:extLst>
          </p:cNvPr>
          <p:cNvSpPr txBox="1"/>
          <p:nvPr/>
        </p:nvSpPr>
        <p:spPr>
          <a:xfrm>
            <a:off x="6" y="2479075"/>
            <a:ext cx="6857999"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it-IT">
                <a:ea typeface="+mn-lt"/>
                <a:cs typeface="+mn-lt"/>
              </a:rPr>
              <a:t>Università degli studi di Napoli Parthenope </a:t>
            </a:r>
            <a:endParaRPr lang="it-IT">
              <a:ea typeface="Calibri" panose="020F0502020204030204"/>
              <a:cs typeface="Calibri" panose="020F0502020204030204"/>
            </a:endParaRPr>
          </a:p>
          <a:p>
            <a:pPr algn="ctr"/>
            <a:endParaRPr lang="it-IT" sz="2000">
              <a:ea typeface="Calibri"/>
              <a:cs typeface="Calibri"/>
            </a:endParaRPr>
          </a:p>
          <a:p>
            <a:pPr algn="ctr"/>
            <a:endParaRPr lang="it-IT">
              <a:ea typeface="Calibri"/>
              <a:cs typeface="Calibri"/>
            </a:endParaRPr>
          </a:p>
        </p:txBody>
      </p:sp>
      <p:sp>
        <p:nvSpPr>
          <p:cNvPr id="3" name="CasellaDiTesto 2">
            <a:extLst>
              <a:ext uri="{FF2B5EF4-FFF2-40B4-BE49-F238E27FC236}">
                <a16:creationId xmlns:a16="http://schemas.microsoft.com/office/drawing/2014/main" id="{73C08EF3-29BA-2BCE-76E8-16EE29F05E9F}"/>
              </a:ext>
            </a:extLst>
          </p:cNvPr>
          <p:cNvSpPr txBox="1"/>
          <p:nvPr/>
        </p:nvSpPr>
        <p:spPr>
          <a:xfrm>
            <a:off x="0" y="3458603"/>
            <a:ext cx="6858000" cy="707886"/>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lvl="1" algn="ctr"/>
            <a:r>
              <a:rPr lang="it-IT" sz="2000">
                <a:ea typeface="+mn-lt"/>
                <a:cs typeface="+mn-lt"/>
              </a:rPr>
              <a:t>Progetto Ingegneria del Software </a:t>
            </a:r>
            <a:endParaRPr lang="it-IT">
              <a:ea typeface="+mn-lt"/>
              <a:cs typeface="+mn-lt"/>
            </a:endParaRPr>
          </a:p>
          <a:p>
            <a:pPr lvl="1" algn="ctr"/>
            <a:r>
              <a:rPr lang="it-IT" sz="2000">
                <a:ea typeface="+mn-lt"/>
                <a:cs typeface="+mn-lt"/>
              </a:rPr>
              <a:t>e Interazione Uomo Macchina </a:t>
            </a:r>
            <a:endParaRPr lang="it-IT">
              <a:ea typeface="Calibri" panose="020F0502020204030204"/>
              <a:cs typeface="Calibri" panose="020F0502020204030204"/>
            </a:endParaRPr>
          </a:p>
        </p:txBody>
      </p:sp>
      <p:sp>
        <p:nvSpPr>
          <p:cNvPr id="6" name="CasellaDiTesto 5">
            <a:extLst>
              <a:ext uri="{FF2B5EF4-FFF2-40B4-BE49-F238E27FC236}">
                <a16:creationId xmlns:a16="http://schemas.microsoft.com/office/drawing/2014/main" id="{615C073E-6D67-4B67-BDF2-D2AEFCC9AB37}"/>
              </a:ext>
            </a:extLst>
          </p:cNvPr>
          <p:cNvSpPr txBox="1"/>
          <p:nvPr/>
        </p:nvSpPr>
        <p:spPr>
          <a:xfrm>
            <a:off x="6" y="4336976"/>
            <a:ext cx="68579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it-IT" sz="2400" b="1">
                <a:ea typeface="Calibri"/>
                <a:cs typeface="Calibri"/>
              </a:rPr>
              <a:t>Smart-Buy Phone</a:t>
            </a:r>
          </a:p>
        </p:txBody>
      </p:sp>
      <p:sp>
        <p:nvSpPr>
          <p:cNvPr id="7" name="CasellaDiTesto 6">
            <a:extLst>
              <a:ext uri="{FF2B5EF4-FFF2-40B4-BE49-F238E27FC236}">
                <a16:creationId xmlns:a16="http://schemas.microsoft.com/office/drawing/2014/main" id="{81C171F4-CABD-2233-7618-AB3CB1EED840}"/>
              </a:ext>
            </a:extLst>
          </p:cNvPr>
          <p:cNvSpPr txBox="1"/>
          <p:nvPr/>
        </p:nvSpPr>
        <p:spPr>
          <a:xfrm>
            <a:off x="1" y="4798635"/>
            <a:ext cx="68580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it-IT" sz="1600">
                <a:latin typeface="Calibri"/>
                <a:ea typeface="Calibri"/>
                <a:cs typeface="Calibri"/>
              </a:rPr>
              <a:t>System Design Document </a:t>
            </a:r>
            <a:endParaRPr lang="it-IT" sz="1600">
              <a:ea typeface="Calibri"/>
              <a:cs typeface="Calibri"/>
            </a:endParaRPr>
          </a:p>
        </p:txBody>
      </p:sp>
      <p:sp>
        <p:nvSpPr>
          <p:cNvPr id="8" name="CasellaDiTesto 7">
            <a:extLst>
              <a:ext uri="{FF2B5EF4-FFF2-40B4-BE49-F238E27FC236}">
                <a16:creationId xmlns:a16="http://schemas.microsoft.com/office/drawing/2014/main" id="{82BE5E65-9B24-CE72-2983-394DE797EBBF}"/>
              </a:ext>
            </a:extLst>
          </p:cNvPr>
          <p:cNvSpPr txBox="1"/>
          <p:nvPr/>
        </p:nvSpPr>
        <p:spPr>
          <a:xfrm>
            <a:off x="762000" y="6063342"/>
            <a:ext cx="31242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it-IT" sz="1400">
              <a:ea typeface="Calibri"/>
              <a:cs typeface="Calibri"/>
            </a:endParaRPr>
          </a:p>
          <a:p>
            <a:r>
              <a:rPr lang="it-IT" sz="1200">
                <a:ea typeface="Calibri"/>
                <a:cs typeface="Calibri"/>
              </a:rPr>
              <a:t>Santo Femiano 0124/002426</a:t>
            </a:r>
          </a:p>
          <a:p>
            <a:r>
              <a:rPr lang="it-IT" sz="1200">
                <a:ea typeface="Calibri"/>
                <a:cs typeface="Calibri"/>
              </a:rPr>
              <a:t>Salvatore Santaniello </a:t>
            </a:r>
            <a:r>
              <a:rPr lang="it-IT" sz="1200">
                <a:ea typeface="+mn-lt"/>
                <a:cs typeface="+mn-lt"/>
              </a:rPr>
              <a:t>0124/002091</a:t>
            </a:r>
          </a:p>
          <a:p>
            <a:r>
              <a:rPr lang="it-IT" sz="1200">
                <a:ea typeface="Calibri"/>
                <a:cs typeface="Calibri"/>
              </a:rPr>
              <a:t>Pasquale Marzocchi </a:t>
            </a:r>
            <a:r>
              <a:rPr lang="it-IT" sz="1200">
                <a:ea typeface="+mn-lt"/>
                <a:cs typeface="+mn-lt"/>
              </a:rPr>
              <a:t>0124/001891</a:t>
            </a:r>
          </a:p>
        </p:txBody>
      </p:sp>
      <p:sp>
        <p:nvSpPr>
          <p:cNvPr id="9" name="CasellaDiTesto 8">
            <a:extLst>
              <a:ext uri="{FF2B5EF4-FFF2-40B4-BE49-F238E27FC236}">
                <a16:creationId xmlns:a16="http://schemas.microsoft.com/office/drawing/2014/main" id="{425C5E6A-F43E-A336-4B90-6BBD247CCB52}"/>
              </a:ext>
            </a:extLst>
          </p:cNvPr>
          <p:cNvSpPr txBox="1"/>
          <p:nvPr/>
        </p:nvSpPr>
        <p:spPr>
          <a:xfrm>
            <a:off x="2057399" y="8316685"/>
            <a:ext cx="27432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it-IT" sz="1200">
                <a:ea typeface="+mn-lt"/>
                <a:cs typeface="+mn-lt"/>
              </a:rPr>
              <a:t>Professoressa </a:t>
            </a:r>
            <a:r>
              <a:rPr lang="it-IT" sz="1200" err="1">
                <a:ea typeface="+mn-lt"/>
                <a:cs typeface="+mn-lt"/>
              </a:rPr>
              <a:t>Mariacarla</a:t>
            </a:r>
            <a:r>
              <a:rPr lang="it-IT" sz="1200">
                <a:ea typeface="+mn-lt"/>
                <a:cs typeface="+mn-lt"/>
              </a:rPr>
              <a:t> Staffa </a:t>
            </a:r>
            <a:endParaRPr lang="it-IT" sz="1200">
              <a:ea typeface="Calibri"/>
              <a:cs typeface="Calibri" panose="020F0502020204030204"/>
            </a:endParaRPr>
          </a:p>
          <a:p>
            <a:pPr algn="ctr"/>
            <a:r>
              <a:rPr lang="it-IT" sz="1200">
                <a:ea typeface="+mn-lt"/>
                <a:cs typeface="+mn-lt"/>
              </a:rPr>
              <a:t>Professoressa Paola Barra</a:t>
            </a:r>
            <a:endParaRPr lang="it-IT" sz="1200">
              <a:cs typeface="Calibri"/>
            </a:endParaRPr>
          </a:p>
          <a:p>
            <a:pPr algn="l"/>
            <a:endParaRPr lang="it-IT">
              <a:cs typeface="Calibri"/>
            </a:endParaRPr>
          </a:p>
        </p:txBody>
      </p:sp>
    </p:spTree>
    <p:extLst>
      <p:ext uri="{BB962C8B-B14F-4D97-AF65-F5344CB8AC3E}">
        <p14:creationId xmlns:p14="http://schemas.microsoft.com/office/powerpoint/2010/main" val="3962583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5A719D2-2E99-7981-1625-CCC11C81DB80}"/>
              </a:ext>
            </a:extLst>
          </p:cNvPr>
          <p:cNvSpPr>
            <a:spLocks noGrp="1"/>
          </p:cNvSpPr>
          <p:nvPr>
            <p:ph type="title"/>
          </p:nvPr>
        </p:nvSpPr>
        <p:spPr>
          <a:xfrm>
            <a:off x="255828" y="117882"/>
            <a:ext cx="5915026" cy="531446"/>
          </a:xfrm>
        </p:spPr>
        <p:txBody>
          <a:bodyPr>
            <a:normAutofit/>
          </a:bodyPr>
          <a:lstStyle/>
          <a:p>
            <a:r>
              <a:rPr lang="it-IT" sz="1800" b="1">
                <a:solidFill>
                  <a:schemeClr val="accent5">
                    <a:lumMod val="75000"/>
                  </a:schemeClr>
                </a:solidFill>
                <a:ea typeface="Calibri Light"/>
                <a:cs typeface="Calibri Light"/>
              </a:rPr>
              <a:t>Indice</a:t>
            </a:r>
          </a:p>
        </p:txBody>
      </p:sp>
      <p:sp>
        <p:nvSpPr>
          <p:cNvPr id="3" name="Segnaposto contenuto 2">
            <a:extLst>
              <a:ext uri="{FF2B5EF4-FFF2-40B4-BE49-F238E27FC236}">
                <a16:creationId xmlns:a16="http://schemas.microsoft.com/office/drawing/2014/main" id="{9E81648D-17E5-8DF4-E138-DF30823D7F1A}"/>
              </a:ext>
            </a:extLst>
          </p:cNvPr>
          <p:cNvSpPr>
            <a:spLocks noGrp="1"/>
          </p:cNvSpPr>
          <p:nvPr>
            <p:ph idx="1"/>
          </p:nvPr>
        </p:nvSpPr>
        <p:spPr>
          <a:xfrm>
            <a:off x="259629" y="845321"/>
            <a:ext cx="6339491" cy="6565179"/>
          </a:xfrm>
        </p:spPr>
        <p:txBody>
          <a:bodyPr vert="horz" lIns="91440" tIns="45720" rIns="91440" bIns="45720" rtlCol="0" anchor="t">
            <a:normAutofit/>
          </a:bodyPr>
          <a:lstStyle/>
          <a:p>
            <a:pPr marL="0" indent="0">
              <a:buNone/>
            </a:pPr>
            <a:r>
              <a:rPr lang="it-IT" sz="1800" b="1">
                <a:cs typeface="Calibri" panose="020F0502020204030204"/>
                <a:hlinkClick r:id="rId2" action="ppaction://hlinksldjump"/>
              </a:rPr>
              <a:t>1.0</a:t>
            </a:r>
            <a:r>
              <a:rPr lang="it-IT" sz="1800">
                <a:cs typeface="Calibri" panose="020F0502020204030204"/>
                <a:hlinkClick r:id="rId2" action="ppaction://hlinksldjump"/>
              </a:rPr>
              <a:t> Introduzione......................................................................3</a:t>
            </a:r>
            <a:endParaRPr lang="it-IT" sz="1800">
              <a:cs typeface="Calibri" panose="020F0502020204030204"/>
            </a:endParaRPr>
          </a:p>
          <a:p>
            <a:pPr marL="0" indent="0">
              <a:buNone/>
            </a:pPr>
            <a:r>
              <a:rPr lang="it-IT" sz="1800" b="1">
                <a:cs typeface="Calibri" panose="020F0502020204030204"/>
                <a:hlinkClick r:id="rId3" action="ppaction://hlinksldjump"/>
              </a:rPr>
              <a:t>2.0</a:t>
            </a:r>
            <a:r>
              <a:rPr lang="it-IT" sz="1800">
                <a:cs typeface="Calibri" panose="020F0502020204030204"/>
                <a:hlinkClick r:id="rId3" action="ppaction://hlinksldjump"/>
              </a:rPr>
              <a:t> Object Model.………………………………………………………………..5</a:t>
            </a:r>
            <a:endParaRPr lang="it-IT" sz="1800">
              <a:ea typeface="Calibri"/>
              <a:cs typeface="Calibri" panose="020F0502020204030204"/>
            </a:endParaRPr>
          </a:p>
          <a:p>
            <a:pPr marL="0" indent="0">
              <a:buNone/>
            </a:pPr>
            <a:r>
              <a:rPr lang="it-IT" sz="1800" b="1">
                <a:cs typeface="Calibri" panose="020F0502020204030204"/>
                <a:hlinkClick r:id="rId4" action="ppaction://hlinksldjump"/>
              </a:rPr>
              <a:t>3.0</a:t>
            </a:r>
            <a:r>
              <a:rPr lang="it-IT" sz="1800">
                <a:cs typeface="Calibri" panose="020F0502020204030204"/>
                <a:hlinkClick r:id="rId4" action="ppaction://hlinksldjump"/>
              </a:rPr>
              <a:t> </a:t>
            </a:r>
            <a:r>
              <a:rPr lang="it-IT" sz="1800" err="1">
                <a:solidFill>
                  <a:srgbClr val="000000"/>
                </a:solidFill>
                <a:cs typeface="Calibri" panose="020F0502020204030204"/>
                <a:hlinkClick r:id="rId4" action="ppaction://hlinksldjump"/>
              </a:rPr>
              <a:t>Proposed</a:t>
            </a:r>
            <a:r>
              <a:rPr lang="it-IT" sz="1800">
                <a:solidFill>
                  <a:srgbClr val="000000"/>
                </a:solidFill>
                <a:cs typeface="Calibri" panose="020F0502020204030204"/>
                <a:hlinkClick r:id="rId4" action="ppaction://hlinksldjump"/>
              </a:rPr>
              <a:t> Software Architecture</a:t>
            </a:r>
            <a:r>
              <a:rPr lang="it-IT" sz="1800">
                <a:cs typeface="Calibri" panose="020F0502020204030204"/>
                <a:hlinkClick r:id="rId4" action="ppaction://hlinksldjump"/>
              </a:rPr>
              <a:t>……………….……………..……12 </a:t>
            </a:r>
            <a:endParaRPr lang="it-IT" sz="1800">
              <a:ea typeface="Calibri"/>
              <a:cs typeface="Calibri" panose="020F0502020204030204"/>
            </a:endParaRPr>
          </a:p>
          <a:p>
            <a:pPr marL="0" indent="0">
              <a:buNone/>
            </a:pPr>
            <a:r>
              <a:rPr lang="it-IT" sz="1800" b="1">
                <a:cs typeface="Calibri" panose="020F0502020204030204"/>
                <a:hlinkClick r:id="rId5" action="ppaction://hlinksldjump"/>
              </a:rPr>
              <a:t>4.0 </a:t>
            </a:r>
            <a:r>
              <a:rPr lang="it-IT" sz="1800">
                <a:cs typeface="Calibri" panose="020F0502020204030204"/>
                <a:hlinkClick r:id="rId5" action="ppaction://hlinksldjump"/>
              </a:rPr>
              <a:t>Hardware/Software mapping…..……………………………………13</a:t>
            </a:r>
            <a:endParaRPr lang="it-IT" sz="1800">
              <a:ea typeface="Calibri"/>
              <a:cs typeface="Calibri" panose="020F0502020204030204"/>
            </a:endParaRPr>
          </a:p>
          <a:p>
            <a:pPr marL="0" indent="0">
              <a:buNone/>
            </a:pPr>
            <a:r>
              <a:rPr lang="it-IT" sz="1800" b="1">
                <a:cs typeface="Calibri" panose="020F0502020204030204"/>
                <a:hlinkClick r:id="rId6" action="ppaction://hlinksldjump"/>
              </a:rPr>
              <a:t>5.0</a:t>
            </a:r>
            <a:r>
              <a:rPr lang="it-IT" sz="1800">
                <a:cs typeface="Calibri" panose="020F0502020204030204"/>
                <a:hlinkClick r:id="rId6" action="ppaction://hlinksldjump"/>
              </a:rPr>
              <a:t> </a:t>
            </a:r>
            <a:r>
              <a:rPr lang="it-IT" sz="1800" err="1">
                <a:cs typeface="Calibri" panose="020F0502020204030204"/>
                <a:hlinkClick r:id="rId6" action="ppaction://hlinksldjump"/>
              </a:rPr>
              <a:t>Abbott’s</a:t>
            </a:r>
            <a:r>
              <a:rPr lang="it-IT" sz="1800">
                <a:cs typeface="Calibri" panose="020F0502020204030204"/>
                <a:hlinkClick r:id="rId6" action="ppaction://hlinksldjump"/>
              </a:rPr>
              <a:t> </a:t>
            </a:r>
            <a:r>
              <a:rPr lang="it-IT" sz="1800" err="1">
                <a:cs typeface="Calibri" panose="020F0502020204030204"/>
                <a:hlinkClick r:id="rId6" action="ppaction://hlinksldjump"/>
              </a:rPr>
              <a:t>objects</a:t>
            </a:r>
            <a:r>
              <a:rPr lang="it-IT" sz="1800">
                <a:cs typeface="Calibri" panose="020F0502020204030204"/>
                <a:hlinkClick r:id="rId6" action="ppaction://hlinksldjump"/>
              </a:rPr>
              <a:t> </a:t>
            </a:r>
            <a:r>
              <a:rPr lang="it-IT" sz="1800" err="1">
                <a:cs typeface="Calibri" panose="020F0502020204030204"/>
                <a:hlinkClick r:id="rId6" action="ppaction://hlinksldjump"/>
              </a:rPr>
              <a:t>identification</a:t>
            </a:r>
            <a:r>
              <a:rPr lang="it-IT" sz="1800">
                <a:cs typeface="Calibri" panose="020F0502020204030204"/>
                <a:hlinkClick r:id="rId6" action="ppaction://hlinksldjump"/>
              </a:rPr>
              <a:t>…………………….………………..14</a:t>
            </a:r>
            <a:endParaRPr lang="it-IT" sz="1800">
              <a:ea typeface="Calibri"/>
              <a:cs typeface="Calibri" panose="020F0502020204030204"/>
            </a:endParaRPr>
          </a:p>
          <a:p>
            <a:pPr marL="0" indent="0">
              <a:buNone/>
            </a:pPr>
            <a:r>
              <a:rPr lang="it-IT" sz="1800" b="1">
                <a:cs typeface="Calibri" panose="020F0502020204030204"/>
                <a:hlinkClick r:id="rId7" action="ppaction://hlinksldjump"/>
              </a:rPr>
              <a:t>6.0 </a:t>
            </a:r>
            <a:r>
              <a:rPr lang="it-IT" sz="1800">
                <a:cs typeface="Calibri" panose="020F0502020204030204"/>
                <a:hlinkClick r:id="rId7" action="ppaction://hlinksldjump"/>
              </a:rPr>
              <a:t>Object Model………………………………………………………………..17</a:t>
            </a:r>
            <a:endParaRPr lang="it-IT" sz="1800">
              <a:ea typeface="Calibri"/>
              <a:cs typeface="Calibri" panose="020F0502020204030204"/>
            </a:endParaRPr>
          </a:p>
          <a:p>
            <a:pPr marL="0" indent="0">
              <a:buNone/>
            </a:pPr>
            <a:r>
              <a:rPr lang="it-IT" sz="1800" b="1">
                <a:ea typeface="Calibri"/>
                <a:cs typeface="Calibri" panose="020F0502020204030204"/>
                <a:hlinkClick r:id="rId8" action="ppaction://hlinksldjump"/>
              </a:rPr>
              <a:t>7.0 </a:t>
            </a:r>
            <a:r>
              <a:rPr lang="it-IT" sz="1800">
                <a:ea typeface="Calibri"/>
                <a:cs typeface="Calibri" panose="020F0502020204030204"/>
                <a:hlinkClick r:id="rId8" action="ppaction://hlinksldjump"/>
              </a:rPr>
              <a:t>Glossario...........................................................................19</a:t>
            </a:r>
            <a:endParaRPr lang="it-IT" sz="1800" b="1">
              <a:ea typeface="Calibri"/>
              <a:cs typeface="Calibri"/>
            </a:endParaRPr>
          </a:p>
          <a:p>
            <a:pPr marL="0" indent="0">
              <a:buNone/>
            </a:pPr>
            <a:endParaRPr lang="it-IT" sz="1800">
              <a:ea typeface="Calibri"/>
              <a:cs typeface="Calibri"/>
            </a:endParaRPr>
          </a:p>
        </p:txBody>
      </p:sp>
    </p:spTree>
    <p:extLst>
      <p:ext uri="{BB962C8B-B14F-4D97-AF65-F5344CB8AC3E}">
        <p14:creationId xmlns:p14="http://schemas.microsoft.com/office/powerpoint/2010/main" val="3385624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2A9A82-6458-CC8D-27B7-C7216FD59C2B}"/>
              </a:ext>
            </a:extLst>
          </p:cNvPr>
          <p:cNvSpPr>
            <a:spLocks noGrp="1"/>
          </p:cNvSpPr>
          <p:nvPr>
            <p:ph type="title"/>
          </p:nvPr>
        </p:nvSpPr>
        <p:spPr>
          <a:xfrm>
            <a:off x="329973" y="203807"/>
            <a:ext cx="5120369" cy="863903"/>
          </a:xfrm>
        </p:spPr>
        <p:txBody>
          <a:bodyPr>
            <a:normAutofit/>
          </a:bodyPr>
          <a:lstStyle/>
          <a:p>
            <a:r>
              <a:rPr lang="it-IT" sz="3200">
                <a:solidFill>
                  <a:schemeClr val="accent5">
                    <a:lumMod val="75000"/>
                  </a:schemeClr>
                </a:solidFill>
                <a:cs typeface="Calibri Light"/>
              </a:rPr>
              <a:t>1.0 Introduzione</a:t>
            </a:r>
          </a:p>
        </p:txBody>
      </p:sp>
      <p:sp>
        <p:nvSpPr>
          <p:cNvPr id="4" name="CasellaDiTesto 3">
            <a:extLst>
              <a:ext uri="{FF2B5EF4-FFF2-40B4-BE49-F238E27FC236}">
                <a16:creationId xmlns:a16="http://schemas.microsoft.com/office/drawing/2014/main" id="{A9C8DDA3-D101-70A0-D3D1-F58D266C6F86}"/>
              </a:ext>
            </a:extLst>
          </p:cNvPr>
          <p:cNvSpPr txBox="1"/>
          <p:nvPr/>
        </p:nvSpPr>
        <p:spPr>
          <a:xfrm>
            <a:off x="447963" y="2438405"/>
            <a:ext cx="5954485"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1200">
                <a:latin typeface="Calibri"/>
                <a:ea typeface="Cambria"/>
                <a:cs typeface="Calibri"/>
              </a:rPr>
              <a:t>L'obiettivo del nostro e-commerce </a:t>
            </a:r>
            <a:r>
              <a:rPr lang="it-IT" sz="1200">
                <a:latin typeface="Calibri"/>
                <a:ea typeface="+mn-lt"/>
                <a:cs typeface="+mn-lt"/>
              </a:rPr>
              <a:t>è facilitare l'acquisto e la vendita di prodotti relativi agli smartphone attraverso </a:t>
            </a:r>
            <a:r>
              <a:rPr lang="it-IT" sz="1200">
                <a:ea typeface="+mn-lt"/>
                <a:cs typeface="+mn-lt"/>
              </a:rPr>
              <a:t>un'interfaccia utente responsive e user-friendly per gli acquirenti online. Il sistema dovrà offrire una piattaforma completa per la vendita online di</a:t>
            </a:r>
            <a:endParaRPr lang="it-IT" sz="1200">
              <a:cs typeface="Calibri"/>
            </a:endParaRPr>
          </a:p>
          <a:p>
            <a:r>
              <a:rPr lang="it-IT" sz="1200">
                <a:ea typeface="+mn-lt"/>
                <a:cs typeface="+mn-lt"/>
              </a:rPr>
              <a:t>smartphone e accessori, inclusa la gestione del catalogo, l'elaborazione degli ordini, la gestione degli utenti e la gestione delle spedizioni. </a:t>
            </a:r>
          </a:p>
          <a:p>
            <a:endParaRPr lang="it-IT" sz="1200">
              <a:ea typeface="Calibri"/>
              <a:cs typeface="Calibri"/>
            </a:endParaRPr>
          </a:p>
          <a:p>
            <a:r>
              <a:rPr lang="it-IT" sz="1200">
                <a:ea typeface="Calibri"/>
                <a:cs typeface="Calibri"/>
              </a:rPr>
              <a:t>Il nostro e-commerce potrà essere utilizzato da tre tipologie di utenti:</a:t>
            </a:r>
          </a:p>
          <a:p>
            <a:r>
              <a:rPr lang="it-IT" sz="1200" b="1">
                <a:ea typeface="Calibri"/>
                <a:cs typeface="Calibri"/>
              </a:rPr>
              <a:t>Admin, Seller e Customer</a:t>
            </a:r>
            <a:r>
              <a:rPr lang="it-IT" sz="1200">
                <a:ea typeface="Calibri"/>
                <a:cs typeface="Calibri"/>
              </a:rPr>
              <a:t>.</a:t>
            </a:r>
            <a:endParaRPr lang="it-IT" sz="1200">
              <a:cs typeface="Calibri"/>
            </a:endParaRPr>
          </a:p>
          <a:p>
            <a:endParaRPr lang="it-IT" sz="1200">
              <a:ea typeface="Calibri"/>
              <a:cs typeface="Calibri"/>
            </a:endParaRPr>
          </a:p>
          <a:p>
            <a:r>
              <a:rPr lang="it-IT" sz="1200">
                <a:ea typeface="Calibri"/>
                <a:cs typeface="Calibri"/>
              </a:rPr>
              <a:t>Il sito web attraverso un'interfaccia utente responsive si adatterà alle esigenze dei vari utenti a cui si presta.</a:t>
            </a:r>
          </a:p>
          <a:p>
            <a:endParaRPr lang="it-IT" sz="1200">
              <a:ea typeface="Calibri"/>
              <a:cs typeface="Calibri"/>
            </a:endParaRPr>
          </a:p>
          <a:p>
            <a:r>
              <a:rPr lang="it-IT" sz="1200" b="1">
                <a:ea typeface="Calibri"/>
                <a:cs typeface="Calibri"/>
              </a:rPr>
              <a:t>L'Admin </a:t>
            </a:r>
            <a:r>
              <a:rPr lang="it-IT" sz="1200">
                <a:ea typeface="Calibri"/>
                <a:cs typeface="Calibri"/>
              </a:rPr>
              <a:t>(Amministratore) </a:t>
            </a:r>
            <a:r>
              <a:rPr lang="it-IT" sz="1200">
                <a:ea typeface="+mn-lt"/>
                <a:cs typeface="+mn-lt"/>
              </a:rPr>
              <a:t>svolge diverse mansioni cruciali per garantire il corretto funzionamento e la gestione del negozio online:</a:t>
            </a:r>
          </a:p>
          <a:p>
            <a:r>
              <a:rPr lang="it-IT" sz="1200">
                <a:ea typeface="+mn-lt"/>
                <a:cs typeface="+mn-lt"/>
              </a:rPr>
              <a:t>Gestione del Catalogo, Gestione degli Ordini, Gestione degli Utenti, Analisi delle prestazioni, Gestione delle Promozioni e degli Sconti, Gestione delle Scorte, Gestione dei Pagamenti, Assistenza Clienti, Rapporto e Analisi, Aggiornamento e Manutenzione dell' E-commerce stesso.</a:t>
            </a:r>
          </a:p>
          <a:p>
            <a:endParaRPr lang="it-IT" sz="1200">
              <a:ea typeface="+mn-lt"/>
              <a:cs typeface="+mn-lt"/>
            </a:endParaRPr>
          </a:p>
          <a:p>
            <a:r>
              <a:rPr lang="it-IT" sz="1200" b="1">
                <a:ea typeface="+mn-lt"/>
                <a:cs typeface="+mn-lt"/>
              </a:rPr>
              <a:t>Il Seller</a:t>
            </a:r>
            <a:r>
              <a:rPr lang="it-IT" sz="1200">
                <a:ea typeface="+mn-lt"/>
                <a:cs typeface="+mn-lt"/>
              </a:rPr>
              <a:t>(Venditore) in un e-commerce è responsabile della gestione dei prodotti che intende vendere sulla piattaforma. Le responsabilità principali dell'utente "seller" sono:</a:t>
            </a:r>
            <a:endParaRPr lang="it-IT" sz="1200">
              <a:cs typeface="Calibri"/>
            </a:endParaRPr>
          </a:p>
          <a:p>
            <a:r>
              <a:rPr lang="it-IT" sz="1200">
                <a:ea typeface="+mn-lt"/>
                <a:cs typeface="+mn-lt"/>
              </a:rPr>
              <a:t>Creazione e Gestione del profilo di tipo "seller" sulla piattaforma, </a:t>
            </a:r>
          </a:p>
          <a:p>
            <a:r>
              <a:rPr lang="it-IT" sz="1200">
                <a:ea typeface="+mn-lt"/>
                <a:cs typeface="+mn-lt"/>
              </a:rPr>
              <a:t>Aggiunta di Prodotti al Catalogo, Gestione degli Stock, Impostazione dei Prezzi, Promozioni e Sconti, Elaborazione degli Ordini, Spedizione e Logistica, Servizio Clienti, Analisi delle Vendite, Aggiornamenti e Mantenimento.</a:t>
            </a:r>
          </a:p>
          <a:p>
            <a:endParaRPr lang="en-US" sz="1200">
              <a:cs typeface="Calibri"/>
            </a:endParaRPr>
          </a:p>
          <a:p>
            <a:r>
              <a:rPr lang="en-US" sz="1200">
                <a:ea typeface="+mn-lt"/>
                <a:cs typeface="+mn-lt"/>
              </a:rPr>
              <a:t>Il </a:t>
            </a:r>
            <a:r>
              <a:rPr lang="en-US" sz="1200" b="1">
                <a:ea typeface="+mn-lt"/>
                <a:cs typeface="+mn-lt"/>
              </a:rPr>
              <a:t>Customer</a:t>
            </a:r>
            <a:r>
              <a:rPr lang="en-US" sz="1200">
                <a:ea typeface="+mn-lt"/>
                <a:cs typeface="+mn-lt"/>
              </a:rPr>
              <a:t>(</a:t>
            </a:r>
            <a:r>
              <a:rPr lang="en-US" sz="1200" err="1">
                <a:ea typeface="+mn-lt"/>
                <a:cs typeface="+mn-lt"/>
              </a:rPr>
              <a:t>Cliente</a:t>
            </a:r>
            <a:r>
              <a:rPr lang="en-US" sz="1200">
                <a:ea typeface="+mn-lt"/>
                <a:cs typeface="+mn-lt"/>
              </a:rPr>
              <a:t>) in un e-commerce è </a:t>
            </a:r>
            <a:r>
              <a:rPr lang="en-US" sz="1200" err="1">
                <a:ea typeface="+mn-lt"/>
                <a:cs typeface="+mn-lt"/>
              </a:rPr>
              <a:t>una</a:t>
            </a:r>
            <a:r>
              <a:rPr lang="en-US" sz="1200">
                <a:ea typeface="+mn-lt"/>
                <a:cs typeface="+mn-lt"/>
              </a:rPr>
              <a:t> </a:t>
            </a:r>
            <a:r>
              <a:rPr lang="en-US" sz="1200" err="1">
                <a:ea typeface="+mn-lt"/>
                <a:cs typeface="+mn-lt"/>
              </a:rPr>
              <a:t>delle</a:t>
            </a:r>
            <a:r>
              <a:rPr lang="en-US" sz="1200">
                <a:ea typeface="+mn-lt"/>
                <a:cs typeface="+mn-lt"/>
              </a:rPr>
              <a:t> figure </a:t>
            </a:r>
            <a:r>
              <a:rPr lang="en-US" sz="1200" err="1">
                <a:ea typeface="+mn-lt"/>
                <a:cs typeface="+mn-lt"/>
              </a:rPr>
              <a:t>più</a:t>
            </a:r>
            <a:r>
              <a:rPr lang="en-US" sz="1200">
                <a:ea typeface="+mn-lt"/>
                <a:cs typeface="+mn-lt"/>
              </a:rPr>
              <a:t> </a:t>
            </a:r>
            <a:r>
              <a:rPr lang="en-US" sz="1200" err="1">
                <a:ea typeface="+mn-lt"/>
                <a:cs typeface="+mn-lt"/>
              </a:rPr>
              <a:t>cruciali</a:t>
            </a:r>
            <a:r>
              <a:rPr lang="en-US" sz="1200">
                <a:ea typeface="+mn-lt"/>
                <a:cs typeface="+mn-lt"/>
              </a:rPr>
              <a:t>, </a:t>
            </a:r>
            <a:r>
              <a:rPr lang="en-US" sz="1200" err="1">
                <a:ea typeface="+mn-lt"/>
                <a:cs typeface="+mn-lt"/>
              </a:rPr>
              <a:t>poiché</a:t>
            </a:r>
            <a:r>
              <a:rPr lang="en-US" sz="1200">
                <a:ea typeface="+mn-lt"/>
                <a:cs typeface="+mn-lt"/>
              </a:rPr>
              <a:t> </a:t>
            </a:r>
            <a:r>
              <a:rPr lang="en-US" sz="1200" err="1">
                <a:ea typeface="+mn-lt"/>
                <a:cs typeface="+mn-lt"/>
              </a:rPr>
              <a:t>rappresenta</a:t>
            </a:r>
            <a:r>
              <a:rPr lang="en-US" sz="1200">
                <a:ea typeface="+mn-lt"/>
                <a:cs typeface="+mn-lt"/>
              </a:rPr>
              <a:t> la </a:t>
            </a:r>
            <a:r>
              <a:rPr lang="en-US" sz="1200" err="1">
                <a:ea typeface="+mn-lt"/>
                <a:cs typeface="+mn-lt"/>
              </a:rPr>
              <a:t>parte</a:t>
            </a:r>
            <a:r>
              <a:rPr lang="en-US" sz="1200">
                <a:ea typeface="+mn-lt"/>
                <a:cs typeface="+mn-lt"/>
              </a:rPr>
              <a:t> </a:t>
            </a:r>
            <a:r>
              <a:rPr lang="en-US" sz="1200" err="1">
                <a:ea typeface="+mn-lt"/>
                <a:cs typeface="+mn-lt"/>
              </a:rPr>
              <a:t>che</a:t>
            </a:r>
            <a:r>
              <a:rPr lang="en-US" sz="1200">
                <a:ea typeface="+mn-lt"/>
                <a:cs typeface="+mn-lt"/>
              </a:rPr>
              <a:t> </a:t>
            </a:r>
            <a:r>
              <a:rPr lang="en-US" sz="1200" err="1">
                <a:ea typeface="+mn-lt"/>
                <a:cs typeface="+mn-lt"/>
              </a:rPr>
              <a:t>effettua</a:t>
            </a:r>
            <a:r>
              <a:rPr lang="en-US" sz="1200">
                <a:ea typeface="+mn-lt"/>
                <a:cs typeface="+mn-lt"/>
              </a:rPr>
              <a:t> </a:t>
            </a:r>
            <a:r>
              <a:rPr lang="en-US" sz="1200" err="1">
                <a:ea typeface="+mn-lt"/>
                <a:cs typeface="+mn-lt"/>
              </a:rPr>
              <a:t>gli</a:t>
            </a:r>
            <a:r>
              <a:rPr lang="en-US" sz="1200">
                <a:ea typeface="+mn-lt"/>
                <a:cs typeface="+mn-lt"/>
              </a:rPr>
              <a:t> </a:t>
            </a:r>
            <a:r>
              <a:rPr lang="en-US" sz="1200" err="1">
                <a:ea typeface="+mn-lt"/>
                <a:cs typeface="+mn-lt"/>
              </a:rPr>
              <a:t>acquisti</a:t>
            </a:r>
            <a:r>
              <a:rPr lang="en-US" sz="1200">
                <a:ea typeface="+mn-lt"/>
                <a:cs typeface="+mn-lt"/>
              </a:rPr>
              <a:t> e </a:t>
            </a:r>
            <a:r>
              <a:rPr lang="en-US" sz="1200" err="1">
                <a:ea typeface="+mn-lt"/>
                <a:cs typeface="+mn-lt"/>
              </a:rPr>
              <a:t>contribuisce</a:t>
            </a:r>
            <a:r>
              <a:rPr lang="en-US" sz="1200">
                <a:ea typeface="+mn-lt"/>
                <a:cs typeface="+mn-lt"/>
              </a:rPr>
              <a:t> </a:t>
            </a:r>
            <a:r>
              <a:rPr lang="en-US" sz="1200" err="1">
                <a:ea typeface="+mn-lt"/>
                <a:cs typeface="+mn-lt"/>
              </a:rPr>
              <a:t>direttamente</a:t>
            </a:r>
            <a:r>
              <a:rPr lang="en-US" sz="1200">
                <a:ea typeface="+mn-lt"/>
                <a:cs typeface="+mn-lt"/>
              </a:rPr>
              <a:t> al </a:t>
            </a:r>
            <a:r>
              <a:rPr lang="en-US" sz="1200" err="1">
                <a:ea typeface="+mn-lt"/>
                <a:cs typeface="+mn-lt"/>
              </a:rPr>
              <a:t>successo</a:t>
            </a:r>
            <a:r>
              <a:rPr lang="en-US" sz="1200">
                <a:ea typeface="+mn-lt"/>
                <a:cs typeface="+mn-lt"/>
              </a:rPr>
              <a:t> del </a:t>
            </a:r>
            <a:r>
              <a:rPr lang="en-US" sz="1200" err="1">
                <a:ea typeface="+mn-lt"/>
                <a:cs typeface="+mn-lt"/>
              </a:rPr>
              <a:t>negozio</a:t>
            </a:r>
            <a:r>
              <a:rPr lang="en-US" sz="1200">
                <a:ea typeface="+mn-lt"/>
                <a:cs typeface="+mn-lt"/>
              </a:rPr>
              <a:t> online. Le </a:t>
            </a:r>
            <a:r>
              <a:rPr lang="en-US" sz="1200" err="1">
                <a:ea typeface="+mn-lt"/>
                <a:cs typeface="+mn-lt"/>
              </a:rPr>
              <a:t>principali</a:t>
            </a:r>
            <a:r>
              <a:rPr lang="en-US" sz="1200">
                <a:ea typeface="+mn-lt"/>
                <a:cs typeface="+mn-lt"/>
              </a:rPr>
              <a:t> </a:t>
            </a:r>
            <a:r>
              <a:rPr lang="en-US" sz="1200" err="1">
                <a:ea typeface="+mn-lt"/>
                <a:cs typeface="+mn-lt"/>
              </a:rPr>
              <a:t>attività</a:t>
            </a:r>
            <a:r>
              <a:rPr lang="en-US" sz="1200">
                <a:ea typeface="+mn-lt"/>
                <a:cs typeface="+mn-lt"/>
              </a:rPr>
              <a:t> e </a:t>
            </a:r>
            <a:r>
              <a:rPr lang="en-US" sz="1200" err="1">
                <a:ea typeface="+mn-lt"/>
                <a:cs typeface="+mn-lt"/>
              </a:rPr>
              <a:t>responsabilità</a:t>
            </a:r>
            <a:r>
              <a:rPr lang="en-US" sz="1200">
                <a:ea typeface="+mn-lt"/>
                <a:cs typeface="+mn-lt"/>
              </a:rPr>
              <a:t> del </a:t>
            </a:r>
            <a:r>
              <a:rPr lang="en-US" sz="1200" err="1">
                <a:ea typeface="+mn-lt"/>
                <a:cs typeface="+mn-lt"/>
              </a:rPr>
              <a:t>cliente</a:t>
            </a:r>
            <a:r>
              <a:rPr lang="en-US" sz="1200">
                <a:ea typeface="+mn-lt"/>
                <a:cs typeface="+mn-lt"/>
              </a:rPr>
              <a:t> in un </a:t>
            </a:r>
            <a:r>
              <a:rPr lang="en-US" sz="1200" err="1">
                <a:ea typeface="+mn-lt"/>
                <a:cs typeface="+mn-lt"/>
              </a:rPr>
              <a:t>contesto</a:t>
            </a:r>
            <a:r>
              <a:rPr lang="en-US" sz="1200">
                <a:ea typeface="+mn-lt"/>
                <a:cs typeface="+mn-lt"/>
              </a:rPr>
              <a:t> di e-commerce </a:t>
            </a:r>
            <a:r>
              <a:rPr lang="en-US" sz="1200" err="1">
                <a:ea typeface="+mn-lt"/>
                <a:cs typeface="+mn-lt"/>
              </a:rPr>
              <a:t>sono</a:t>
            </a:r>
            <a:r>
              <a:rPr lang="en-US" sz="1200">
                <a:ea typeface="+mn-lt"/>
                <a:cs typeface="+mn-lt"/>
              </a:rPr>
              <a:t>: </a:t>
            </a:r>
            <a:r>
              <a:rPr lang="en-US" sz="1200" err="1">
                <a:ea typeface="+mn-lt"/>
                <a:cs typeface="+mn-lt"/>
              </a:rPr>
              <a:t>Creazione</a:t>
            </a:r>
            <a:r>
              <a:rPr lang="en-US" sz="1200">
                <a:ea typeface="+mn-lt"/>
                <a:cs typeface="+mn-lt"/>
              </a:rPr>
              <a:t> di un Account, Accesso al Sito </a:t>
            </a:r>
            <a:r>
              <a:rPr lang="en-US" sz="1200" err="1">
                <a:ea typeface="+mn-lt"/>
                <a:cs typeface="+mn-lt"/>
              </a:rPr>
              <a:t>tramite</a:t>
            </a:r>
            <a:r>
              <a:rPr lang="en-US" sz="1200">
                <a:ea typeface="+mn-lt"/>
                <a:cs typeface="+mn-lt"/>
              </a:rPr>
              <a:t> Log-in, Navigazione e </a:t>
            </a:r>
            <a:r>
              <a:rPr lang="en-US" sz="1200" err="1">
                <a:ea typeface="+mn-lt"/>
                <a:cs typeface="+mn-lt"/>
              </a:rPr>
              <a:t>Ricerca</a:t>
            </a:r>
            <a:r>
              <a:rPr lang="en-US" sz="1200">
                <a:ea typeface="+mn-lt"/>
                <a:cs typeface="+mn-lt"/>
              </a:rPr>
              <a:t>, Navigazione del </a:t>
            </a:r>
            <a:r>
              <a:rPr lang="en-US" sz="1200" err="1">
                <a:ea typeface="+mn-lt"/>
                <a:cs typeface="+mn-lt"/>
              </a:rPr>
              <a:t>Catalogo</a:t>
            </a:r>
            <a:r>
              <a:rPr lang="en-US" sz="1200">
                <a:ea typeface="+mn-lt"/>
                <a:cs typeface="+mn-lt"/>
              </a:rPr>
              <a:t>, </a:t>
            </a:r>
            <a:r>
              <a:rPr lang="en-US" sz="1200" err="1">
                <a:ea typeface="+mn-lt"/>
                <a:cs typeface="+mn-lt"/>
              </a:rPr>
              <a:t>Processo</a:t>
            </a:r>
            <a:r>
              <a:rPr lang="en-US" sz="1200">
                <a:ea typeface="+mn-lt"/>
                <a:cs typeface="+mn-lt"/>
              </a:rPr>
              <a:t> di Acquisto(Checkout), </a:t>
            </a:r>
            <a:r>
              <a:rPr lang="en-US" sz="1200" err="1">
                <a:ea typeface="+mn-lt"/>
                <a:cs typeface="+mn-lt"/>
              </a:rPr>
              <a:t>Pagamento</a:t>
            </a:r>
            <a:r>
              <a:rPr lang="en-US" sz="1200">
                <a:ea typeface="+mn-lt"/>
                <a:cs typeface="+mn-lt"/>
              </a:rPr>
              <a:t>, </a:t>
            </a:r>
            <a:r>
              <a:rPr lang="en-US" sz="1200" err="1">
                <a:ea typeface="+mn-lt"/>
                <a:cs typeface="+mn-lt"/>
              </a:rPr>
              <a:t>Ricezione</a:t>
            </a:r>
            <a:r>
              <a:rPr lang="en-US" sz="1200">
                <a:ea typeface="+mn-lt"/>
                <a:cs typeface="+mn-lt"/>
              </a:rPr>
              <a:t> e </a:t>
            </a:r>
            <a:r>
              <a:rPr lang="en-US" sz="1200" err="1">
                <a:ea typeface="+mn-lt"/>
                <a:cs typeface="+mn-lt"/>
              </a:rPr>
              <a:t>Consegna</a:t>
            </a:r>
            <a:r>
              <a:rPr lang="en-US" sz="1200">
                <a:ea typeface="+mn-lt"/>
                <a:cs typeface="+mn-lt"/>
              </a:rPr>
              <a:t>, </a:t>
            </a:r>
            <a:r>
              <a:rPr lang="en-US" sz="1200" err="1">
                <a:ea typeface="+mn-lt"/>
                <a:cs typeface="+mn-lt"/>
              </a:rPr>
              <a:t>Assistenza</a:t>
            </a:r>
            <a:r>
              <a:rPr lang="en-US" sz="1200">
                <a:ea typeface="+mn-lt"/>
                <a:cs typeface="+mn-lt"/>
              </a:rPr>
              <a:t> </a:t>
            </a:r>
            <a:r>
              <a:rPr lang="en-US" sz="1200" err="1">
                <a:ea typeface="+mn-lt"/>
                <a:cs typeface="+mn-lt"/>
              </a:rPr>
              <a:t>Clienti</a:t>
            </a:r>
            <a:r>
              <a:rPr lang="en-US" sz="1200">
                <a:ea typeface="+mn-lt"/>
                <a:cs typeface="+mn-lt"/>
              </a:rPr>
              <a:t>, </a:t>
            </a:r>
            <a:r>
              <a:rPr lang="en-US" sz="1200" err="1">
                <a:ea typeface="+mn-lt"/>
                <a:cs typeface="+mn-lt"/>
              </a:rPr>
              <a:t>Conformità</a:t>
            </a:r>
            <a:r>
              <a:rPr lang="en-US" sz="1200">
                <a:ea typeface="+mn-lt"/>
                <a:cs typeface="+mn-lt"/>
              </a:rPr>
              <a:t> alle Normative.</a:t>
            </a:r>
          </a:p>
        </p:txBody>
      </p:sp>
      <p:sp>
        <p:nvSpPr>
          <p:cNvPr id="3" name="CasellaDiTesto 2">
            <a:extLst>
              <a:ext uri="{FF2B5EF4-FFF2-40B4-BE49-F238E27FC236}">
                <a16:creationId xmlns:a16="http://schemas.microsoft.com/office/drawing/2014/main" id="{0120F48F-BA4E-9E64-BD71-782F9E323BA2}"/>
              </a:ext>
            </a:extLst>
          </p:cNvPr>
          <p:cNvSpPr txBox="1"/>
          <p:nvPr/>
        </p:nvSpPr>
        <p:spPr>
          <a:xfrm>
            <a:off x="348342" y="1066800"/>
            <a:ext cx="2743200"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1700">
                <a:ea typeface="+mn-lt"/>
                <a:cs typeface="+mn-lt"/>
              </a:rPr>
              <a:t>1.1 </a:t>
            </a:r>
            <a:r>
              <a:rPr lang="it-IT" sz="1700" err="1">
                <a:ea typeface="+mn-lt"/>
                <a:cs typeface="+mn-lt"/>
              </a:rPr>
              <a:t>Purpose</a:t>
            </a:r>
            <a:r>
              <a:rPr lang="it-IT" sz="1700">
                <a:ea typeface="+mn-lt"/>
                <a:cs typeface="+mn-lt"/>
              </a:rPr>
              <a:t> of the system </a:t>
            </a:r>
            <a:endParaRPr lang="it-IT"/>
          </a:p>
          <a:p>
            <a:pPr algn="l"/>
            <a:endParaRPr lang="it-IT">
              <a:ea typeface="Calibri"/>
              <a:cs typeface="Calibri"/>
            </a:endParaRPr>
          </a:p>
        </p:txBody>
      </p:sp>
      <p:pic>
        <p:nvPicPr>
          <p:cNvPr id="6" name="Immagine 5" descr="Immagine che contiene Carattere, logo, Elementi grafici, bianco&#10;&#10;Descrizione generata automaticamente">
            <a:extLst>
              <a:ext uri="{FF2B5EF4-FFF2-40B4-BE49-F238E27FC236}">
                <a16:creationId xmlns:a16="http://schemas.microsoft.com/office/drawing/2014/main" id="{EA3DF4EC-631B-38D4-EA13-A57DDF60B548}"/>
              </a:ext>
            </a:extLst>
          </p:cNvPr>
          <p:cNvPicPr>
            <a:picLocks noChangeAspect="1"/>
          </p:cNvPicPr>
          <p:nvPr/>
        </p:nvPicPr>
        <p:blipFill>
          <a:blip r:embed="rId2"/>
          <a:stretch>
            <a:fillRect/>
          </a:stretch>
        </p:blipFill>
        <p:spPr>
          <a:xfrm>
            <a:off x="3427639" y="1062718"/>
            <a:ext cx="2724150" cy="1314450"/>
          </a:xfrm>
          <a:prstGeom prst="rect">
            <a:avLst/>
          </a:prstGeom>
        </p:spPr>
      </p:pic>
    </p:spTree>
    <p:extLst>
      <p:ext uri="{BB962C8B-B14F-4D97-AF65-F5344CB8AC3E}">
        <p14:creationId xmlns:p14="http://schemas.microsoft.com/office/powerpoint/2010/main" val="1309814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07AD82F-DD74-D1A2-E10A-3BEA655668F6}"/>
              </a:ext>
            </a:extLst>
          </p:cNvPr>
          <p:cNvSpPr>
            <a:spLocks noGrp="1"/>
          </p:cNvSpPr>
          <p:nvPr>
            <p:ph type="title"/>
          </p:nvPr>
        </p:nvSpPr>
        <p:spPr>
          <a:xfrm>
            <a:off x="404071" y="825655"/>
            <a:ext cx="5915026" cy="4938746"/>
          </a:xfrm>
        </p:spPr>
        <p:txBody>
          <a:bodyPr vert="horz" lIns="91440" tIns="45720" rIns="91440" bIns="45720" rtlCol="0" anchor="ctr">
            <a:noAutofit/>
          </a:bodyPr>
          <a:lstStyle/>
          <a:p>
            <a:pPr marL="285750" indent="-285750">
              <a:lnSpc>
                <a:spcPct val="100000"/>
              </a:lnSpc>
              <a:buFont typeface="Arial"/>
              <a:buChar char="•"/>
            </a:pPr>
            <a:r>
              <a:rPr lang="it-IT" sz="1400" b="1" err="1">
                <a:ea typeface="+mj-lt"/>
                <a:cs typeface="+mj-lt"/>
              </a:rPr>
              <a:t>Response</a:t>
            </a:r>
            <a:r>
              <a:rPr lang="it-IT" sz="1400" b="1">
                <a:ea typeface="+mj-lt"/>
                <a:cs typeface="+mj-lt"/>
              </a:rPr>
              <a:t> time</a:t>
            </a:r>
            <a:br>
              <a:rPr lang="it-IT" sz="1400">
                <a:ea typeface="+mj-lt"/>
                <a:cs typeface="+mj-lt"/>
              </a:rPr>
            </a:br>
            <a:r>
              <a:rPr lang="it-IT" sz="1200" err="1">
                <a:ea typeface="+mj-lt"/>
                <a:cs typeface="+mj-lt"/>
              </a:rPr>
              <a:t>SmartBuyPhone</a:t>
            </a:r>
            <a:r>
              <a:rPr lang="it-IT" sz="1200">
                <a:ea typeface="+mj-lt"/>
                <a:cs typeface="+mj-lt"/>
              </a:rPr>
              <a:t> dovrebbe fornire una risposta tempestiva, assicurando interazioni efficienti degli utenti con la piattaforma.</a:t>
            </a:r>
            <a:endParaRPr lang="it-IT" sz="1400">
              <a:ea typeface="+mj-lt"/>
              <a:cs typeface="+mj-lt"/>
            </a:endParaRPr>
          </a:p>
          <a:p>
            <a:pPr marL="285750" indent="-285750">
              <a:lnSpc>
                <a:spcPct val="100000"/>
              </a:lnSpc>
              <a:buFont typeface="Arial"/>
              <a:buChar char="•"/>
            </a:pPr>
            <a:r>
              <a:rPr lang="it-IT" sz="1400" b="1" err="1">
                <a:ea typeface="Calibri Light"/>
                <a:cs typeface="Calibri Light"/>
              </a:rPr>
              <a:t>Availability</a:t>
            </a:r>
            <a:br>
              <a:rPr lang="it-IT" sz="1400">
                <a:ea typeface="+mj-lt"/>
                <a:cs typeface="+mj-lt"/>
              </a:rPr>
            </a:br>
            <a:r>
              <a:rPr lang="it-IT" sz="1400">
                <a:ea typeface="Calibri Light"/>
                <a:cs typeface="Calibri Light"/>
              </a:rPr>
              <a:t> </a:t>
            </a:r>
            <a:r>
              <a:rPr lang="it-IT" sz="1200" err="1">
                <a:ea typeface="+mj-lt"/>
                <a:cs typeface="+mj-lt"/>
              </a:rPr>
              <a:t>SmartBuyPhone</a:t>
            </a:r>
            <a:r>
              <a:rPr lang="it-IT" sz="1200">
                <a:ea typeface="+mj-lt"/>
                <a:cs typeface="+mj-lt"/>
              </a:rPr>
              <a:t> dovrebbe garantire un elevato livello di disponibilità, assicurando che il sito web sia accessibile agli utenti senza tempi di inattività significativi.</a:t>
            </a:r>
            <a:endParaRPr lang="it-IT" sz="1400">
              <a:ea typeface="Calibri Light"/>
              <a:cs typeface="Calibri Light"/>
            </a:endParaRPr>
          </a:p>
          <a:p>
            <a:pPr marL="285750" indent="-285750">
              <a:lnSpc>
                <a:spcPct val="100000"/>
              </a:lnSpc>
              <a:buFont typeface="Arial"/>
              <a:buChar char="•"/>
            </a:pPr>
            <a:r>
              <a:rPr lang="it-IT" sz="1400" b="1">
                <a:ea typeface="+mj-lt"/>
                <a:cs typeface="+mj-lt"/>
              </a:rPr>
              <a:t>Security</a:t>
            </a:r>
            <a:br>
              <a:rPr lang="it-IT" sz="1400">
                <a:ea typeface="+mj-lt"/>
                <a:cs typeface="+mj-lt"/>
              </a:rPr>
            </a:br>
            <a:r>
              <a:rPr lang="it-IT" sz="1400">
                <a:ea typeface="+mj-lt"/>
                <a:cs typeface="+mj-lt"/>
              </a:rPr>
              <a:t> </a:t>
            </a:r>
            <a:r>
              <a:rPr lang="it-IT" sz="1200" err="1">
                <a:ea typeface="+mj-lt"/>
                <a:cs typeface="+mj-lt"/>
              </a:rPr>
              <a:t>SmartBuyPhone</a:t>
            </a:r>
            <a:r>
              <a:rPr lang="it-IT" sz="1200">
                <a:ea typeface="+mj-lt"/>
                <a:cs typeface="+mj-lt"/>
              </a:rPr>
              <a:t> dovrebbe assicurare che i dati degli utenti siano gestiti in modo sicuro, implementando robuste misure di sicurezza per proteggere da accessi non autorizzati e violazioni dei dati.</a:t>
            </a:r>
            <a:endParaRPr lang="it-IT" sz="1400">
              <a:ea typeface="Calibri Light"/>
              <a:cs typeface="Calibri Light"/>
            </a:endParaRPr>
          </a:p>
          <a:p>
            <a:pPr marL="285750" indent="-285750">
              <a:lnSpc>
                <a:spcPct val="100000"/>
              </a:lnSpc>
              <a:buFont typeface="Arial"/>
              <a:buChar char="•"/>
            </a:pPr>
            <a:r>
              <a:rPr lang="it-IT" sz="1400" b="1" err="1">
                <a:ea typeface="+mj-lt"/>
                <a:cs typeface="+mj-lt"/>
              </a:rPr>
              <a:t>Maintenance</a:t>
            </a:r>
            <a:r>
              <a:rPr lang="it-IT" sz="1400" b="1">
                <a:ea typeface="+mj-lt"/>
                <a:cs typeface="+mj-lt"/>
              </a:rPr>
              <a:t> cost</a:t>
            </a:r>
            <a:br>
              <a:rPr lang="it-IT" sz="1400">
                <a:ea typeface="+mj-lt"/>
                <a:cs typeface="+mj-lt"/>
              </a:rPr>
            </a:br>
            <a:r>
              <a:rPr lang="it-IT" sz="1400">
                <a:ea typeface="+mj-lt"/>
                <a:cs typeface="+mj-lt"/>
              </a:rPr>
              <a:t> </a:t>
            </a:r>
            <a:r>
              <a:rPr lang="it-IT" sz="1200" err="1">
                <a:ea typeface="+mj-lt"/>
                <a:cs typeface="+mj-lt"/>
              </a:rPr>
              <a:t>SmartBuyPhone</a:t>
            </a:r>
            <a:r>
              <a:rPr lang="it-IT" sz="1200">
                <a:ea typeface="+mj-lt"/>
                <a:cs typeface="+mj-lt"/>
              </a:rPr>
              <a:t> dovrebbe assicurare costi di manutenzione contenuti, riducendo al minimo le spese continue associate agli aggiornamenti e alle migliorie del sistema.</a:t>
            </a:r>
            <a:endParaRPr lang="it-IT" sz="1400">
              <a:ea typeface="Calibri Light"/>
              <a:cs typeface="Calibri Light"/>
            </a:endParaRPr>
          </a:p>
          <a:p>
            <a:pPr marL="285750" indent="-285750">
              <a:lnSpc>
                <a:spcPct val="100000"/>
              </a:lnSpc>
              <a:buFont typeface="Arial"/>
              <a:buChar char="•"/>
            </a:pPr>
            <a:r>
              <a:rPr lang="it-IT" sz="1400" b="1" err="1">
                <a:ea typeface="+mj-lt"/>
                <a:cs typeface="+mj-lt"/>
              </a:rPr>
              <a:t>Portability</a:t>
            </a:r>
            <a:br>
              <a:rPr lang="it-IT" sz="1400">
                <a:ea typeface="+mj-lt"/>
                <a:cs typeface="+mj-lt"/>
              </a:rPr>
            </a:br>
            <a:r>
              <a:rPr lang="it-IT" sz="1400">
                <a:ea typeface="+mj-lt"/>
                <a:cs typeface="+mj-lt"/>
              </a:rPr>
              <a:t> </a:t>
            </a:r>
            <a:r>
              <a:rPr lang="it-IT" sz="1200" err="1">
                <a:ea typeface="+mj-lt"/>
                <a:cs typeface="+mj-lt"/>
              </a:rPr>
              <a:t>SmartBuyPhone</a:t>
            </a:r>
            <a:r>
              <a:rPr lang="it-IT" sz="1200">
                <a:ea typeface="+mj-lt"/>
                <a:cs typeface="+mj-lt"/>
              </a:rPr>
              <a:t> dovrebbe essere progettato come un sistema multi-piattaforma, garantendo la compatibilità su vari dispositivi e sistemi operativi.</a:t>
            </a:r>
            <a:r>
              <a:rPr lang="it-IT" sz="1400">
                <a:ea typeface="+mj-lt"/>
                <a:cs typeface="+mj-lt"/>
              </a:rPr>
              <a:t> </a:t>
            </a:r>
            <a:endParaRPr lang="it-IT" sz="1400">
              <a:ea typeface="Calibri Light"/>
              <a:cs typeface="Calibri Light"/>
            </a:endParaRPr>
          </a:p>
          <a:p>
            <a:pPr marL="285750" indent="-285750">
              <a:lnSpc>
                <a:spcPct val="100000"/>
              </a:lnSpc>
              <a:buFont typeface="Arial"/>
              <a:buChar char="•"/>
            </a:pPr>
            <a:r>
              <a:rPr lang="it-IT" sz="1400" b="1" err="1">
                <a:ea typeface="+mj-lt"/>
                <a:cs typeface="+mj-lt"/>
              </a:rPr>
              <a:t>Usability</a:t>
            </a:r>
            <a:br>
              <a:rPr lang="it-IT" sz="1400">
                <a:ea typeface="+mj-lt"/>
                <a:cs typeface="+mj-lt"/>
              </a:rPr>
            </a:br>
            <a:r>
              <a:rPr lang="it-IT" sz="1400">
                <a:ea typeface="+mj-lt"/>
                <a:cs typeface="+mj-lt"/>
              </a:rPr>
              <a:t> </a:t>
            </a:r>
            <a:r>
              <a:rPr lang="it-IT" sz="1200" err="1">
                <a:ea typeface="+mj-lt"/>
                <a:cs typeface="+mj-lt"/>
              </a:rPr>
              <a:t>SmartBuyPhone</a:t>
            </a:r>
            <a:r>
              <a:rPr lang="it-IT" sz="1200">
                <a:ea typeface="+mj-lt"/>
                <a:cs typeface="+mj-lt"/>
              </a:rPr>
              <a:t> dovrebbe presentare un'interfaccia intuitiva, offrendo agli utenti un'esperienza amichevole che richiede sforzi minimi per navigare e effettuare acquisti.</a:t>
            </a:r>
            <a:endParaRPr lang="it-IT" sz="1400">
              <a:ea typeface="Calibri Light"/>
              <a:cs typeface="Calibri Light"/>
            </a:endParaRPr>
          </a:p>
          <a:p>
            <a:pPr>
              <a:lnSpc>
                <a:spcPct val="100000"/>
              </a:lnSpc>
            </a:pPr>
            <a:endParaRPr lang="it-IT">
              <a:ea typeface="Calibri Light"/>
              <a:cs typeface="Calibri Light"/>
            </a:endParaRPr>
          </a:p>
        </p:txBody>
      </p:sp>
      <p:sp>
        <p:nvSpPr>
          <p:cNvPr id="3" name="CasellaDiTesto 2">
            <a:extLst>
              <a:ext uri="{FF2B5EF4-FFF2-40B4-BE49-F238E27FC236}">
                <a16:creationId xmlns:a16="http://schemas.microsoft.com/office/drawing/2014/main" id="{F5AC4617-599F-5564-D576-F6AB840C737A}"/>
              </a:ext>
            </a:extLst>
          </p:cNvPr>
          <p:cNvSpPr txBox="1"/>
          <p:nvPr/>
        </p:nvSpPr>
        <p:spPr>
          <a:xfrm>
            <a:off x="642257" y="185057"/>
            <a:ext cx="27432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400">
                <a:solidFill>
                  <a:schemeClr val="accent5">
                    <a:lumMod val="75000"/>
                  </a:schemeClr>
                </a:solidFill>
                <a:ea typeface="+mn-lt"/>
                <a:cs typeface="+mn-lt"/>
              </a:rPr>
              <a:t>1.2 Design goals </a:t>
            </a:r>
          </a:p>
          <a:p>
            <a:pPr algn="l"/>
            <a:endParaRPr lang="it-IT">
              <a:ea typeface="Calibri"/>
              <a:cs typeface="Calibri"/>
            </a:endParaRPr>
          </a:p>
        </p:txBody>
      </p:sp>
    </p:spTree>
    <p:extLst>
      <p:ext uri="{BB962C8B-B14F-4D97-AF65-F5344CB8AC3E}">
        <p14:creationId xmlns:p14="http://schemas.microsoft.com/office/powerpoint/2010/main" val="1630381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9AEDF4C7-9EB1-6D9F-DFEB-5D565016E259}"/>
              </a:ext>
            </a:extLst>
          </p:cNvPr>
          <p:cNvSpPr txBox="1"/>
          <p:nvPr/>
        </p:nvSpPr>
        <p:spPr>
          <a:xfrm>
            <a:off x="487680" y="286513"/>
            <a:ext cx="5821680" cy="1615827"/>
          </a:xfrm>
          <a:prstGeom prst="rect">
            <a:avLst/>
          </a:prstGeom>
          <a:noFill/>
        </p:spPr>
        <p:txBody>
          <a:bodyPr wrap="square" lIns="91440" tIns="45720" rIns="91440" bIns="45720" rtlCol="0" anchor="t">
            <a:spAutoFit/>
          </a:bodyPr>
          <a:lstStyle/>
          <a:p>
            <a:r>
              <a:rPr lang="it-IT" sz="2400">
                <a:solidFill>
                  <a:schemeClr val="accent5">
                    <a:lumMod val="75000"/>
                  </a:schemeClr>
                </a:solidFill>
                <a:ea typeface="+mn-lt"/>
                <a:cs typeface="+mn-lt"/>
              </a:rPr>
              <a:t>2.0 OBJECT MODEL </a:t>
            </a:r>
          </a:p>
          <a:p>
            <a:endParaRPr lang="it-IT" sz="2400">
              <a:solidFill>
                <a:schemeClr val="accent5">
                  <a:lumMod val="75000"/>
                </a:schemeClr>
              </a:solidFill>
              <a:ea typeface="+mn-lt"/>
              <a:cs typeface="+mn-lt"/>
            </a:endParaRPr>
          </a:p>
          <a:p>
            <a:r>
              <a:rPr lang="it-IT">
                <a:solidFill>
                  <a:schemeClr val="accent5">
                    <a:lumMod val="75000"/>
                  </a:schemeClr>
                </a:solidFill>
                <a:ea typeface="+mn-lt"/>
                <a:cs typeface="+mn-lt"/>
              </a:rPr>
              <a:t>2.1 CLASS DIAGRAM</a:t>
            </a:r>
          </a:p>
          <a:p>
            <a:r>
              <a:rPr lang="it-IT" sz="1500" err="1">
                <a:solidFill>
                  <a:srgbClr val="008A00"/>
                </a:solidFill>
                <a:ea typeface="+mn-lt"/>
                <a:cs typeface="+mn-lt"/>
              </a:rPr>
              <a:t>Overview</a:t>
            </a:r>
            <a:r>
              <a:rPr lang="it-IT" sz="1500">
                <a:solidFill>
                  <a:srgbClr val="008A00"/>
                </a:solidFill>
                <a:ea typeface="+mn-lt"/>
                <a:cs typeface="+mn-lt"/>
              </a:rPr>
              <a:t>: </a:t>
            </a:r>
          </a:p>
          <a:p>
            <a:endParaRPr lang="it-IT">
              <a:solidFill>
                <a:schemeClr val="accent5">
                  <a:lumMod val="75000"/>
                </a:schemeClr>
              </a:solidFill>
              <a:ea typeface="+mn-lt"/>
              <a:cs typeface="+mn-lt"/>
            </a:endParaRPr>
          </a:p>
        </p:txBody>
      </p:sp>
      <p:pic>
        <p:nvPicPr>
          <p:cNvPr id="4" name="Immagine 3" descr="Immagine che contiene testo, schermata, diagramma, Policromia">
            <a:extLst>
              <a:ext uri="{FF2B5EF4-FFF2-40B4-BE49-F238E27FC236}">
                <a16:creationId xmlns:a16="http://schemas.microsoft.com/office/drawing/2014/main" id="{21FF0B02-8651-5D85-4F55-96035BCB37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35458"/>
            <a:ext cx="6858000" cy="3673085"/>
          </a:xfrm>
          <a:prstGeom prst="rect">
            <a:avLst/>
          </a:prstGeom>
        </p:spPr>
      </p:pic>
    </p:spTree>
    <p:extLst>
      <p:ext uri="{BB962C8B-B14F-4D97-AF65-F5344CB8AC3E}">
        <p14:creationId xmlns:p14="http://schemas.microsoft.com/office/powerpoint/2010/main" val="3577148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testo, schermata, Rettangolo, Parallelo">
            <a:extLst>
              <a:ext uri="{FF2B5EF4-FFF2-40B4-BE49-F238E27FC236}">
                <a16:creationId xmlns:a16="http://schemas.microsoft.com/office/drawing/2014/main" id="{9B7764B8-DD90-8666-DCC2-1A6D2664C6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262" y="2300287"/>
            <a:ext cx="5705475" cy="4543425"/>
          </a:xfrm>
          <a:prstGeom prst="rect">
            <a:avLst/>
          </a:prstGeom>
        </p:spPr>
      </p:pic>
      <p:sp>
        <p:nvSpPr>
          <p:cNvPr id="6" name="CasellaDiTesto 5">
            <a:extLst>
              <a:ext uri="{FF2B5EF4-FFF2-40B4-BE49-F238E27FC236}">
                <a16:creationId xmlns:a16="http://schemas.microsoft.com/office/drawing/2014/main" id="{6EE776D8-3FDF-4853-E244-4D79818DC9E5}"/>
              </a:ext>
            </a:extLst>
          </p:cNvPr>
          <p:cNvSpPr txBox="1"/>
          <p:nvPr/>
        </p:nvSpPr>
        <p:spPr>
          <a:xfrm>
            <a:off x="292608" y="286512"/>
            <a:ext cx="4840224" cy="738664"/>
          </a:xfrm>
          <a:prstGeom prst="rect">
            <a:avLst/>
          </a:prstGeom>
          <a:noFill/>
        </p:spPr>
        <p:txBody>
          <a:bodyPr wrap="square" lIns="91440" tIns="45720" rIns="91440" bIns="45720" rtlCol="0" anchor="t">
            <a:spAutoFit/>
          </a:bodyPr>
          <a:lstStyle/>
          <a:p>
            <a:r>
              <a:rPr lang="it-IT" sz="2400">
                <a:solidFill>
                  <a:schemeClr val="accent5">
                    <a:lumMod val="75000"/>
                  </a:schemeClr>
                </a:solidFill>
                <a:ea typeface="+mn-lt"/>
                <a:cs typeface="+mn-lt"/>
              </a:rPr>
              <a:t>2.2 UML STRATEGY </a:t>
            </a:r>
          </a:p>
          <a:p>
            <a:endParaRPr lang="it-IT"/>
          </a:p>
        </p:txBody>
      </p:sp>
    </p:spTree>
    <p:extLst>
      <p:ext uri="{BB962C8B-B14F-4D97-AF65-F5344CB8AC3E}">
        <p14:creationId xmlns:p14="http://schemas.microsoft.com/office/powerpoint/2010/main" val="3032572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magine 4" descr="Immagine che contiene testo, schermata, Parallelo, Carattere">
            <a:extLst>
              <a:ext uri="{FF2B5EF4-FFF2-40B4-BE49-F238E27FC236}">
                <a16:creationId xmlns:a16="http://schemas.microsoft.com/office/drawing/2014/main" id="{5A48CD5A-14E3-ACE8-FB5C-7F5BF846C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6" y="1789435"/>
            <a:ext cx="5571068" cy="5001921"/>
          </a:xfrm>
          <a:prstGeom prst="rect">
            <a:avLst/>
          </a:prstGeom>
        </p:spPr>
      </p:pic>
      <p:sp>
        <p:nvSpPr>
          <p:cNvPr id="6" name="CasellaDiTesto 5">
            <a:extLst>
              <a:ext uri="{FF2B5EF4-FFF2-40B4-BE49-F238E27FC236}">
                <a16:creationId xmlns:a16="http://schemas.microsoft.com/office/drawing/2014/main" id="{3B021BA5-5226-5CFC-3891-AE9ACC94BFAA}"/>
              </a:ext>
            </a:extLst>
          </p:cNvPr>
          <p:cNvSpPr txBox="1"/>
          <p:nvPr/>
        </p:nvSpPr>
        <p:spPr>
          <a:xfrm>
            <a:off x="262128" y="262128"/>
            <a:ext cx="3078480" cy="461665"/>
          </a:xfrm>
          <a:prstGeom prst="rect">
            <a:avLst/>
          </a:prstGeom>
          <a:noFill/>
        </p:spPr>
        <p:txBody>
          <a:bodyPr wrap="square" lIns="91440" tIns="45720" rIns="91440" bIns="45720" rtlCol="0" anchor="t">
            <a:spAutoFit/>
          </a:bodyPr>
          <a:lstStyle/>
          <a:p>
            <a:r>
              <a:rPr lang="it-IT" sz="2400">
                <a:solidFill>
                  <a:schemeClr val="accent5">
                    <a:lumMod val="75000"/>
                  </a:schemeClr>
                </a:solidFill>
                <a:ea typeface="+mn-lt"/>
                <a:cs typeface="+mn-lt"/>
              </a:rPr>
              <a:t>2.3 UML VENDITORE</a:t>
            </a:r>
          </a:p>
        </p:txBody>
      </p:sp>
    </p:spTree>
    <p:extLst>
      <p:ext uri="{BB962C8B-B14F-4D97-AF65-F5344CB8AC3E}">
        <p14:creationId xmlns:p14="http://schemas.microsoft.com/office/powerpoint/2010/main" val="2152051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6F40341A-E1C1-2964-6728-4B9095848D76}"/>
              </a:ext>
            </a:extLst>
          </p:cNvPr>
          <p:cNvSpPr txBox="1"/>
          <p:nvPr/>
        </p:nvSpPr>
        <p:spPr>
          <a:xfrm>
            <a:off x="416689" y="462987"/>
            <a:ext cx="2465407" cy="461665"/>
          </a:xfrm>
          <a:prstGeom prst="rect">
            <a:avLst/>
          </a:prstGeom>
          <a:noFill/>
        </p:spPr>
        <p:txBody>
          <a:bodyPr wrap="square" lIns="91440" tIns="45720" rIns="91440" bIns="45720" rtlCol="0" anchor="t">
            <a:spAutoFit/>
          </a:bodyPr>
          <a:lstStyle/>
          <a:p>
            <a:r>
              <a:rPr lang="it-IT" sz="2400">
                <a:solidFill>
                  <a:schemeClr val="accent5">
                    <a:lumMod val="75000"/>
                  </a:schemeClr>
                </a:solidFill>
                <a:ea typeface="+mn-lt"/>
                <a:cs typeface="+mn-lt"/>
              </a:rPr>
              <a:t>2.4 UML UTENTE</a:t>
            </a:r>
          </a:p>
        </p:txBody>
      </p:sp>
      <p:pic>
        <p:nvPicPr>
          <p:cNvPr id="6" name="Immagine 5" descr="Immagine che contiene testo, linea, Carattere, Parallelo&#10;&#10;Descrizione generata automaticamente">
            <a:extLst>
              <a:ext uri="{FF2B5EF4-FFF2-40B4-BE49-F238E27FC236}">
                <a16:creationId xmlns:a16="http://schemas.microsoft.com/office/drawing/2014/main" id="{BE77A486-558D-E9D2-528B-57213E191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1" y="1189677"/>
            <a:ext cx="6858000" cy="1602336"/>
          </a:xfrm>
          <a:prstGeom prst="rect">
            <a:avLst/>
          </a:prstGeom>
        </p:spPr>
      </p:pic>
    </p:spTree>
    <p:extLst>
      <p:ext uri="{BB962C8B-B14F-4D97-AF65-F5344CB8AC3E}">
        <p14:creationId xmlns:p14="http://schemas.microsoft.com/office/powerpoint/2010/main" val="236757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EFA45DB8-49B4-A764-4D26-296DC7C1E874}"/>
              </a:ext>
            </a:extLst>
          </p:cNvPr>
          <p:cNvSpPr txBox="1"/>
          <p:nvPr/>
        </p:nvSpPr>
        <p:spPr>
          <a:xfrm>
            <a:off x="181722" y="370698"/>
            <a:ext cx="2755392" cy="461665"/>
          </a:xfrm>
          <a:prstGeom prst="rect">
            <a:avLst/>
          </a:prstGeom>
          <a:noFill/>
        </p:spPr>
        <p:txBody>
          <a:bodyPr wrap="square" lIns="91440" tIns="45720" rIns="91440" bIns="45720" rtlCol="0" anchor="t">
            <a:spAutoFit/>
          </a:bodyPr>
          <a:lstStyle/>
          <a:p>
            <a:r>
              <a:rPr lang="it-IT" sz="2400">
                <a:solidFill>
                  <a:schemeClr val="accent5">
                    <a:lumMod val="75000"/>
                  </a:schemeClr>
                </a:solidFill>
                <a:ea typeface="+mn-lt"/>
                <a:cs typeface="+mn-lt"/>
              </a:rPr>
              <a:t>2.5 UML PRODUCT</a:t>
            </a:r>
          </a:p>
        </p:txBody>
      </p:sp>
      <p:sp>
        <p:nvSpPr>
          <p:cNvPr id="5" name="AutoShape 2">
            <a:extLst>
              <a:ext uri="{FF2B5EF4-FFF2-40B4-BE49-F238E27FC236}">
                <a16:creationId xmlns:a16="http://schemas.microsoft.com/office/drawing/2014/main" id="{92B93D17-87D2-C7E4-AAC4-32887CFAB804}"/>
              </a:ext>
            </a:extLst>
          </p:cNvPr>
          <p:cNvSpPr>
            <a:spLocks noChangeAspect="1" noChangeArrowheads="1"/>
          </p:cNvSpPr>
          <p:nvPr/>
        </p:nvSpPr>
        <p:spPr bwMode="auto">
          <a:xfrm>
            <a:off x="3276600" y="4419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pic>
        <p:nvPicPr>
          <p:cNvPr id="7" name="Immagine 6" descr="Immagine che contiene testo, schermata, linea, Carattere">
            <a:extLst>
              <a:ext uri="{FF2B5EF4-FFF2-40B4-BE49-F238E27FC236}">
                <a16:creationId xmlns:a16="http://schemas.microsoft.com/office/drawing/2014/main" id="{9CD8C097-8657-2D62-7AF7-C144DBA698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1885"/>
            <a:ext cx="6858000" cy="2542953"/>
          </a:xfrm>
          <a:prstGeom prst="rect">
            <a:avLst/>
          </a:prstGeom>
        </p:spPr>
      </p:pic>
    </p:spTree>
    <p:extLst>
      <p:ext uri="{BB962C8B-B14F-4D97-AF65-F5344CB8AC3E}">
        <p14:creationId xmlns:p14="http://schemas.microsoft.com/office/powerpoint/2010/main" val="1643372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descr="Immagine che contiene testo, schermata, Parallelo, Carattere&#10;&#10;Descrizione generata automaticamente">
            <a:extLst>
              <a:ext uri="{FF2B5EF4-FFF2-40B4-BE49-F238E27FC236}">
                <a16:creationId xmlns:a16="http://schemas.microsoft.com/office/drawing/2014/main" id="{EE97E682-F17B-F240-ABD4-47154DDF43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3512" y="1374323"/>
            <a:ext cx="3990975" cy="2133600"/>
          </a:xfrm>
        </p:spPr>
      </p:pic>
      <p:sp>
        <p:nvSpPr>
          <p:cNvPr id="6" name="CasellaDiTesto 5">
            <a:extLst>
              <a:ext uri="{FF2B5EF4-FFF2-40B4-BE49-F238E27FC236}">
                <a16:creationId xmlns:a16="http://schemas.microsoft.com/office/drawing/2014/main" id="{FB1AD6AF-917F-9128-21C7-E85749804AB2}"/>
              </a:ext>
            </a:extLst>
          </p:cNvPr>
          <p:cNvSpPr txBox="1"/>
          <p:nvPr/>
        </p:nvSpPr>
        <p:spPr>
          <a:xfrm>
            <a:off x="370390" y="578734"/>
            <a:ext cx="3326894" cy="461665"/>
          </a:xfrm>
          <a:prstGeom prst="rect">
            <a:avLst/>
          </a:prstGeom>
          <a:noFill/>
        </p:spPr>
        <p:txBody>
          <a:bodyPr wrap="square" lIns="91440" tIns="45720" rIns="91440" bIns="45720" rtlCol="0" anchor="t">
            <a:spAutoFit/>
          </a:bodyPr>
          <a:lstStyle/>
          <a:p>
            <a:r>
              <a:rPr lang="it-IT" sz="2400">
                <a:solidFill>
                  <a:schemeClr val="accent5">
                    <a:lumMod val="75000"/>
                  </a:schemeClr>
                </a:solidFill>
                <a:ea typeface="+mn-lt"/>
                <a:cs typeface="+mn-lt"/>
              </a:rPr>
              <a:t>2.6 UML OBSERVER</a:t>
            </a:r>
          </a:p>
        </p:txBody>
      </p:sp>
    </p:spTree>
    <p:extLst>
      <p:ext uri="{BB962C8B-B14F-4D97-AF65-F5344CB8AC3E}">
        <p14:creationId xmlns:p14="http://schemas.microsoft.com/office/powerpoint/2010/main" val="2955604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D4697F81-9B61-8CC8-5D1A-9024D9CC8C8B}"/>
              </a:ext>
            </a:extLst>
          </p:cNvPr>
          <p:cNvSpPr txBox="1"/>
          <p:nvPr/>
        </p:nvSpPr>
        <p:spPr>
          <a:xfrm>
            <a:off x="347241" y="451413"/>
            <a:ext cx="3007763" cy="461665"/>
          </a:xfrm>
          <a:prstGeom prst="rect">
            <a:avLst/>
          </a:prstGeom>
          <a:noFill/>
        </p:spPr>
        <p:txBody>
          <a:bodyPr wrap="square" lIns="91440" tIns="45720" rIns="91440" bIns="45720" rtlCol="0" anchor="t">
            <a:spAutoFit/>
          </a:bodyPr>
          <a:lstStyle/>
          <a:p>
            <a:r>
              <a:rPr lang="it-IT" sz="2400">
                <a:solidFill>
                  <a:schemeClr val="accent5">
                    <a:lumMod val="75000"/>
                  </a:schemeClr>
                </a:solidFill>
                <a:ea typeface="+mn-lt"/>
                <a:cs typeface="+mn-lt"/>
              </a:rPr>
              <a:t>2.7 UML DATABASE</a:t>
            </a:r>
          </a:p>
        </p:txBody>
      </p:sp>
      <p:pic>
        <p:nvPicPr>
          <p:cNvPr id="6" name="Immagine 5" descr="Immagine che contiene testo, schermata, Rettangolo, Parallelo&#10;&#10;Descrizione generata automaticamente">
            <a:extLst>
              <a:ext uri="{FF2B5EF4-FFF2-40B4-BE49-F238E27FC236}">
                <a16:creationId xmlns:a16="http://schemas.microsoft.com/office/drawing/2014/main" id="{E7D83EE0-A332-1F3E-15C6-97F9CD468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80258"/>
            <a:ext cx="6858000" cy="2383484"/>
          </a:xfrm>
          <a:prstGeom prst="rect">
            <a:avLst/>
          </a:prstGeom>
        </p:spPr>
      </p:pic>
    </p:spTree>
    <p:extLst>
      <p:ext uri="{BB962C8B-B14F-4D97-AF65-F5344CB8AC3E}">
        <p14:creationId xmlns:p14="http://schemas.microsoft.com/office/powerpoint/2010/main" val="3443722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FE2139-6408-DC05-B4BC-8D7AB6EA2ED6}"/>
              </a:ext>
            </a:extLst>
          </p:cNvPr>
          <p:cNvSpPr txBox="1"/>
          <p:nvPr/>
        </p:nvSpPr>
        <p:spPr>
          <a:xfrm>
            <a:off x="56230" y="97657"/>
            <a:ext cx="6611329" cy="4801314"/>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it-IT" sz="2400">
                <a:solidFill>
                  <a:schemeClr val="accent5">
                    <a:lumMod val="75000"/>
                  </a:schemeClr>
                </a:solidFill>
                <a:ea typeface="+mn-lt"/>
                <a:cs typeface="+mn-lt"/>
              </a:rPr>
              <a:t>3.0 </a:t>
            </a:r>
            <a:r>
              <a:rPr lang="it-IT" sz="2400" err="1">
                <a:solidFill>
                  <a:schemeClr val="accent5">
                    <a:lumMod val="75000"/>
                  </a:schemeClr>
                </a:solidFill>
                <a:ea typeface="+mn-lt"/>
                <a:cs typeface="+mn-lt"/>
              </a:rPr>
              <a:t>Proposed</a:t>
            </a:r>
            <a:r>
              <a:rPr lang="it-IT" sz="2400">
                <a:solidFill>
                  <a:schemeClr val="accent5">
                    <a:lumMod val="75000"/>
                  </a:schemeClr>
                </a:solidFill>
                <a:ea typeface="+mn-lt"/>
                <a:cs typeface="+mn-lt"/>
              </a:rPr>
              <a:t> software </a:t>
            </a:r>
            <a:r>
              <a:rPr lang="it-IT" sz="2400" err="1">
                <a:solidFill>
                  <a:schemeClr val="accent5">
                    <a:lumMod val="75000"/>
                  </a:schemeClr>
                </a:solidFill>
                <a:ea typeface="+mn-lt"/>
                <a:cs typeface="+mn-lt"/>
              </a:rPr>
              <a:t>architecture</a:t>
            </a:r>
            <a:r>
              <a:rPr lang="it-IT" sz="2400">
                <a:solidFill>
                  <a:schemeClr val="accent5">
                    <a:lumMod val="75000"/>
                  </a:schemeClr>
                </a:solidFill>
                <a:ea typeface="+mn-lt"/>
                <a:cs typeface="+mn-lt"/>
              </a:rPr>
              <a:t> </a:t>
            </a:r>
            <a:endParaRPr lang="it-IT" sz="2400">
              <a:solidFill>
                <a:schemeClr val="accent5">
                  <a:lumMod val="75000"/>
                </a:schemeClr>
              </a:solidFill>
              <a:ea typeface="Calibri"/>
              <a:cs typeface="Calibri"/>
            </a:endParaRPr>
          </a:p>
          <a:p>
            <a:r>
              <a:rPr lang="it-IT" sz="1350">
                <a:ea typeface="+mn-lt"/>
                <a:cs typeface="+mn-lt"/>
              </a:rPr>
              <a:t>Lo stile architetturale di un E-commerce è client/server. Esistono 3 tipi di client: </a:t>
            </a:r>
            <a:endParaRPr lang="it-IT" sz="1350">
              <a:ea typeface="Calibri"/>
              <a:cs typeface="Calibri"/>
            </a:endParaRPr>
          </a:p>
          <a:p>
            <a:pPr marL="213995" indent="-213995">
              <a:buFont typeface="Arial"/>
              <a:buChar char="•"/>
            </a:pPr>
            <a:r>
              <a:rPr lang="it-IT" sz="1350">
                <a:ea typeface="+mn-lt"/>
                <a:cs typeface="+mn-lt"/>
              </a:rPr>
              <a:t>L' Admin che si collega alla dashboard per gestire a livello tecnico e gestionale il sito, delle interazioni con i seller (accettandone la registrazione) e gestendo i canali di vendite tramite funzionalità di analisi.</a:t>
            </a:r>
          </a:p>
          <a:p>
            <a:pPr marL="213995" indent="-213995">
              <a:buFont typeface="Arial"/>
              <a:buChar char="•"/>
            </a:pPr>
            <a:r>
              <a:rPr lang="it-IT" sz="1350">
                <a:ea typeface="+mn-lt"/>
                <a:cs typeface="+mn-lt"/>
              </a:rPr>
              <a:t>Il Seller che si collega alla dashboard per gestire la propria vetrina di prodotti (catalogo dedicato al proprio marchio/fornitore) all'aggiunta e alla descrizione dei prodotti nei cataloghi, della gestione degli utenti e degli ordini ed eventuali contatti di assistenza e di reso </a:t>
            </a:r>
            <a:endParaRPr lang="it-IT" sz="1350">
              <a:ea typeface="Calibri"/>
              <a:cs typeface="Calibri"/>
            </a:endParaRPr>
          </a:p>
          <a:p>
            <a:pPr marL="213995" indent="-213995">
              <a:buFont typeface="Arial"/>
              <a:buChar char="•"/>
            </a:pPr>
            <a:r>
              <a:rPr lang="it-IT" sz="1350">
                <a:cs typeface="Calibri"/>
              </a:rPr>
              <a:t>Il Customer utilizza l'e-commerce da esterno con la possibilità di effettuare accesso (previa registrazione) ad un account cliente, ed navigare tra i cataloghi manualmente o tramite ricerca specifica e acquistare i prodotti di interesse in modo intuitivo e sicuro.</a:t>
            </a:r>
            <a:endParaRPr lang="it-IT" sz="1350">
              <a:ea typeface="Calibri"/>
              <a:cs typeface="Calibri"/>
            </a:endParaRPr>
          </a:p>
          <a:p>
            <a:endParaRPr lang="it-IT" sz="1350">
              <a:ea typeface="Calibri"/>
              <a:cs typeface="Calibri"/>
            </a:endParaRPr>
          </a:p>
          <a:p>
            <a:r>
              <a:rPr lang="it-IT" sz="1350">
                <a:ea typeface="+mn-lt"/>
                <a:cs typeface="+mn-lt"/>
              </a:rPr>
              <a:t>Il sistema utilizza un framework </a:t>
            </a:r>
            <a:r>
              <a:rPr lang="it-IT" sz="1350" err="1">
                <a:ea typeface="+mn-lt"/>
                <a:cs typeface="+mn-lt"/>
              </a:rPr>
              <a:t>shopify</a:t>
            </a:r>
            <a:r>
              <a:rPr lang="it-IT" sz="1350">
                <a:ea typeface="+mn-lt"/>
                <a:cs typeface="+mn-lt"/>
              </a:rPr>
              <a:t> per creare un'esperienza di shopping online intuitiva e affidabile.</a:t>
            </a:r>
            <a:endParaRPr lang="it-IT" sz="1200">
              <a:ea typeface="+mn-lt"/>
              <a:cs typeface="+mn-lt"/>
            </a:endParaRPr>
          </a:p>
          <a:p>
            <a:r>
              <a:rPr lang="it-IT" sz="1350">
                <a:ea typeface="+mn-lt"/>
                <a:cs typeface="+mn-lt"/>
              </a:rPr>
              <a:t> </a:t>
            </a:r>
            <a:r>
              <a:rPr lang="it-IT" sz="1350" err="1">
                <a:ea typeface="+mn-lt"/>
                <a:cs typeface="+mn-lt"/>
              </a:rPr>
              <a:t>Shopify</a:t>
            </a:r>
            <a:r>
              <a:rPr lang="it-IT" sz="1350">
                <a:ea typeface="+mn-lt"/>
                <a:cs typeface="+mn-lt"/>
              </a:rPr>
              <a:t> offre una serie di strumenti flessibili e personalizzabili che consentono di gestire facilmente inventari, elaborare transazioni sicure e personalizzare il design del sito per adattarlo alle esigenze specifiche del marchio. Grazie alla sua scalabilità e alla vasta gamma di app disponibili, il framework </a:t>
            </a:r>
            <a:r>
              <a:rPr lang="it-IT" sz="1350" err="1">
                <a:ea typeface="+mn-lt"/>
                <a:cs typeface="+mn-lt"/>
              </a:rPr>
              <a:t>Shopify</a:t>
            </a:r>
            <a:r>
              <a:rPr lang="it-IT" sz="1350">
                <a:ea typeface="+mn-lt"/>
                <a:cs typeface="+mn-lt"/>
              </a:rPr>
              <a:t> permette di espandere e migliorare costantemente l'e-commerce, offrendo una piattaforma solida su cui costruire e far crescere un business online in modo efficiente.</a:t>
            </a:r>
            <a:endParaRPr lang="it-IT" sz="1200">
              <a:ea typeface="Calibri" panose="020F0502020204030204"/>
              <a:cs typeface="Calibri" panose="020F0502020204030204"/>
            </a:endParaRPr>
          </a:p>
        </p:txBody>
      </p:sp>
    </p:spTree>
    <p:extLst>
      <p:ext uri="{BB962C8B-B14F-4D97-AF65-F5344CB8AC3E}">
        <p14:creationId xmlns:p14="http://schemas.microsoft.com/office/powerpoint/2010/main" val="3953679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1700CD70-FEB8-91F1-9525-506A8CD92F41}"/>
              </a:ext>
            </a:extLst>
          </p:cNvPr>
          <p:cNvSpPr txBox="1"/>
          <p:nvPr/>
        </p:nvSpPr>
        <p:spPr>
          <a:xfrm>
            <a:off x="157844" y="688522"/>
            <a:ext cx="6542313" cy="2562240"/>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it-IT" sz="1350">
                <a:cs typeface="Segoe UI"/>
              </a:rPr>
              <a:t>Il sistema è stato pensato per essere utilizzato su molteplici dispositivi, con l’unico vincolo di essere in possesso di un account  autorizzato. ​</a:t>
            </a:r>
            <a:endParaRPr lang="it-IT" sz="1350">
              <a:ea typeface="Calibri"/>
              <a:cs typeface="Calibri"/>
            </a:endParaRPr>
          </a:p>
          <a:p>
            <a:r>
              <a:rPr lang="it-IT" sz="1350">
                <a:cs typeface="Segoe UI"/>
              </a:rPr>
              <a:t>Il sistema utilizza Server Web fisici e database di proprietà di </a:t>
            </a:r>
            <a:r>
              <a:rPr lang="it-IT" sz="1350" err="1">
                <a:cs typeface="Segoe UI"/>
              </a:rPr>
              <a:t>Shopify</a:t>
            </a:r>
            <a:r>
              <a:rPr lang="it-IT" sz="1350">
                <a:cs typeface="Segoe UI"/>
              </a:rPr>
              <a:t>. Il server utilizza un bilanciatore di carico per distribuire il carico tra più server e migliorare le prestazioni. Vengono utilizzate risorse di storage per gestire file multimediali come ad esempio le immagini dei prodotti.</a:t>
            </a:r>
            <a:endParaRPr lang="en-US" sz="1350">
              <a:cs typeface="Segoe UI"/>
            </a:endParaRPr>
          </a:p>
          <a:p>
            <a:r>
              <a:rPr lang="it-IT" sz="1350">
                <a:cs typeface="Segoe UI"/>
              </a:rPr>
              <a:t> L'e-commerce implementa un firewall per proteggere l'infrastruttura da attacchi esterni.</a:t>
            </a:r>
            <a:r>
              <a:rPr lang="en-US" sz="1350">
                <a:cs typeface="Segoe UI"/>
              </a:rPr>
              <a:t>​</a:t>
            </a:r>
            <a:endParaRPr lang="en-US" sz="1350">
              <a:ea typeface="Calibri"/>
              <a:cs typeface="Segoe UI"/>
            </a:endParaRPr>
          </a:p>
          <a:p>
            <a:r>
              <a:rPr lang="it-IT" sz="1350">
                <a:cs typeface="Segoe UI"/>
              </a:rPr>
              <a:t>I database vengono gestiti da un software DBMS, vengono utilizzati diversi tipi di linguaggi di programmazione a seconda dello scopo e dell'ambito. Integra un sistema di pagamento online per transazioni sicure e personalizzate, usando servizi come ad esempio </a:t>
            </a:r>
            <a:r>
              <a:rPr lang="it-IT" sz="1350" err="1">
                <a:cs typeface="Segoe UI"/>
              </a:rPr>
              <a:t>Paypal</a:t>
            </a:r>
            <a:r>
              <a:rPr lang="it-IT" sz="1350">
                <a:cs typeface="Segoe UI"/>
              </a:rPr>
              <a:t>.</a:t>
            </a:r>
            <a:r>
              <a:rPr lang="en-US" sz="1350">
                <a:cs typeface="Segoe UI"/>
              </a:rPr>
              <a:t>​</a:t>
            </a:r>
            <a:endParaRPr lang="en-US" sz="1350">
              <a:ea typeface="Calibri"/>
              <a:cs typeface="Segoe UI"/>
            </a:endParaRPr>
          </a:p>
          <a:p>
            <a:r>
              <a:rPr lang="it-IT" sz="1350">
                <a:cs typeface="Segoe UI"/>
              </a:rPr>
              <a:t>Il sistema implementa strumenti di analisi come Google Analytics e di </a:t>
            </a:r>
            <a:r>
              <a:rPr lang="it-IT" sz="1350" err="1">
                <a:cs typeface="Segoe UI"/>
              </a:rPr>
              <a:t>Seo</a:t>
            </a:r>
            <a:r>
              <a:rPr lang="it-IT" sz="1350">
                <a:cs typeface="Segoe UI"/>
              </a:rPr>
              <a:t> per l'</a:t>
            </a:r>
            <a:r>
              <a:rPr lang="it-IT" sz="1350" err="1">
                <a:cs typeface="Segoe UI"/>
              </a:rPr>
              <a:t>ottimizazzione</a:t>
            </a:r>
            <a:r>
              <a:rPr lang="it-IT" sz="1350">
                <a:cs typeface="Segoe UI"/>
              </a:rPr>
              <a:t> per i motori di ricerca. </a:t>
            </a:r>
            <a:endParaRPr lang="it-IT" sz="1050">
              <a:ea typeface="Calibri"/>
              <a:cs typeface="Segoe UI"/>
            </a:endParaRPr>
          </a:p>
        </p:txBody>
      </p:sp>
      <p:sp>
        <p:nvSpPr>
          <p:cNvPr id="5" name="CasellaDiTesto 4">
            <a:extLst>
              <a:ext uri="{FF2B5EF4-FFF2-40B4-BE49-F238E27FC236}">
                <a16:creationId xmlns:a16="http://schemas.microsoft.com/office/drawing/2014/main" id="{5241E768-066C-A9D9-17F1-0034A53ED5DB}"/>
              </a:ext>
            </a:extLst>
          </p:cNvPr>
          <p:cNvSpPr txBox="1"/>
          <p:nvPr/>
        </p:nvSpPr>
        <p:spPr>
          <a:xfrm>
            <a:off x="163286" y="119743"/>
            <a:ext cx="4746170" cy="646331"/>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it-IT" sz="2400">
                <a:solidFill>
                  <a:srgbClr val="2E75B6"/>
                </a:solidFill>
                <a:ea typeface="+mn-lt"/>
                <a:cs typeface="+mn-lt"/>
              </a:rPr>
              <a:t>4.0 Hardware/Software mapping  </a:t>
            </a:r>
          </a:p>
          <a:p>
            <a:pPr algn="l"/>
            <a:endParaRPr lang="it-IT" sz="1350">
              <a:ea typeface="Calibri"/>
              <a:cs typeface="Calibri"/>
            </a:endParaRPr>
          </a:p>
        </p:txBody>
      </p:sp>
      <p:pic>
        <p:nvPicPr>
          <p:cNvPr id="6" name="Immagine 5">
            <a:extLst>
              <a:ext uri="{FF2B5EF4-FFF2-40B4-BE49-F238E27FC236}">
                <a16:creationId xmlns:a16="http://schemas.microsoft.com/office/drawing/2014/main" id="{96206873-2D1D-3119-9A20-2CAF5E20F668}"/>
              </a:ext>
            </a:extLst>
          </p:cNvPr>
          <p:cNvPicPr>
            <a:picLocks noChangeAspect="1"/>
          </p:cNvPicPr>
          <p:nvPr/>
        </p:nvPicPr>
        <p:blipFill>
          <a:blip r:embed="rId2"/>
          <a:stretch>
            <a:fillRect/>
          </a:stretch>
        </p:blipFill>
        <p:spPr>
          <a:xfrm>
            <a:off x="157843" y="3336199"/>
            <a:ext cx="3429000" cy="2297430"/>
          </a:xfrm>
          <a:prstGeom prst="rect">
            <a:avLst/>
          </a:prstGeom>
        </p:spPr>
      </p:pic>
      <p:pic>
        <p:nvPicPr>
          <p:cNvPr id="7" name="Immagine 6" descr="Immagine che contiene cerchio">
            <a:extLst>
              <a:ext uri="{FF2B5EF4-FFF2-40B4-BE49-F238E27FC236}">
                <a16:creationId xmlns:a16="http://schemas.microsoft.com/office/drawing/2014/main" id="{8304E98A-3F22-8E4D-926B-CBC9C340E196}"/>
              </a:ext>
            </a:extLst>
          </p:cNvPr>
          <p:cNvPicPr>
            <a:picLocks noChangeAspect="1"/>
          </p:cNvPicPr>
          <p:nvPr/>
        </p:nvPicPr>
        <p:blipFill>
          <a:blip r:embed="rId3"/>
          <a:stretch>
            <a:fillRect/>
          </a:stretch>
        </p:blipFill>
        <p:spPr>
          <a:xfrm>
            <a:off x="4577449" y="3750136"/>
            <a:ext cx="1709057" cy="1709057"/>
          </a:xfrm>
          <a:prstGeom prst="rect">
            <a:avLst/>
          </a:prstGeom>
        </p:spPr>
      </p:pic>
    </p:spTree>
    <p:extLst>
      <p:ext uri="{BB962C8B-B14F-4D97-AF65-F5344CB8AC3E}">
        <p14:creationId xmlns:p14="http://schemas.microsoft.com/office/powerpoint/2010/main" val="3908409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83241941-9550-8B5C-6098-FE53644DF531}"/>
              </a:ext>
            </a:extLst>
          </p:cNvPr>
          <p:cNvSpPr txBox="1"/>
          <p:nvPr/>
        </p:nvSpPr>
        <p:spPr>
          <a:xfrm>
            <a:off x="119965" y="73311"/>
            <a:ext cx="457599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200">
                <a:solidFill>
                  <a:schemeClr val="accent5">
                    <a:lumMod val="75000"/>
                  </a:schemeClr>
                </a:solidFill>
                <a:ea typeface="+mn-lt"/>
                <a:cs typeface="+mn-lt"/>
              </a:rPr>
              <a:t>5.0 </a:t>
            </a:r>
            <a:r>
              <a:rPr lang="it-IT" sz="2200" err="1">
                <a:solidFill>
                  <a:schemeClr val="accent5">
                    <a:lumMod val="75000"/>
                  </a:schemeClr>
                </a:solidFill>
                <a:ea typeface="+mn-lt"/>
                <a:cs typeface="+mn-lt"/>
              </a:rPr>
              <a:t>Abbott’s</a:t>
            </a:r>
            <a:r>
              <a:rPr lang="it-IT" sz="2200">
                <a:solidFill>
                  <a:schemeClr val="accent5">
                    <a:lumMod val="75000"/>
                  </a:schemeClr>
                </a:solidFill>
                <a:ea typeface="+mn-lt"/>
                <a:cs typeface="+mn-lt"/>
              </a:rPr>
              <a:t> </a:t>
            </a:r>
            <a:r>
              <a:rPr lang="it-IT" sz="2200" err="1">
                <a:solidFill>
                  <a:schemeClr val="accent5">
                    <a:lumMod val="75000"/>
                  </a:schemeClr>
                </a:solidFill>
                <a:ea typeface="+mn-lt"/>
                <a:cs typeface="+mn-lt"/>
              </a:rPr>
              <a:t>objects</a:t>
            </a:r>
            <a:r>
              <a:rPr lang="it-IT" sz="2200">
                <a:solidFill>
                  <a:schemeClr val="accent5">
                    <a:lumMod val="75000"/>
                  </a:schemeClr>
                </a:solidFill>
                <a:ea typeface="+mn-lt"/>
                <a:cs typeface="+mn-lt"/>
              </a:rPr>
              <a:t> </a:t>
            </a:r>
            <a:r>
              <a:rPr lang="it-IT" sz="2200" err="1">
                <a:solidFill>
                  <a:schemeClr val="accent5">
                    <a:lumMod val="75000"/>
                  </a:schemeClr>
                </a:solidFill>
                <a:ea typeface="+mn-lt"/>
                <a:cs typeface="+mn-lt"/>
              </a:rPr>
              <a:t>identification</a:t>
            </a:r>
            <a:r>
              <a:rPr lang="it-IT" sz="2200">
                <a:solidFill>
                  <a:schemeClr val="accent5">
                    <a:lumMod val="75000"/>
                  </a:schemeClr>
                </a:solidFill>
                <a:ea typeface="+mn-lt"/>
                <a:cs typeface="+mn-lt"/>
              </a:rPr>
              <a:t> </a:t>
            </a:r>
            <a:endParaRPr lang="it-IT">
              <a:solidFill>
                <a:schemeClr val="accent5">
                  <a:lumMod val="75000"/>
                </a:schemeClr>
              </a:solidFill>
            </a:endParaRPr>
          </a:p>
          <a:p>
            <a:pPr algn="l"/>
            <a:endParaRPr lang="it-IT">
              <a:cs typeface="Calibri"/>
            </a:endParaRPr>
          </a:p>
        </p:txBody>
      </p:sp>
      <p:graphicFrame>
        <p:nvGraphicFramePr>
          <p:cNvPr id="5" name="Tabella 4">
            <a:extLst>
              <a:ext uri="{FF2B5EF4-FFF2-40B4-BE49-F238E27FC236}">
                <a16:creationId xmlns:a16="http://schemas.microsoft.com/office/drawing/2014/main" id="{02AFDE20-F2BE-696E-0F51-00242518D7D7}"/>
              </a:ext>
            </a:extLst>
          </p:cNvPr>
          <p:cNvGraphicFramePr>
            <a:graphicFrameLocks noGrp="1"/>
          </p:cNvGraphicFramePr>
          <p:nvPr>
            <p:extLst>
              <p:ext uri="{D42A27DB-BD31-4B8C-83A1-F6EECF244321}">
                <p14:modId xmlns:p14="http://schemas.microsoft.com/office/powerpoint/2010/main" val="3722184563"/>
              </p:ext>
            </p:extLst>
          </p:nvPr>
        </p:nvGraphicFramePr>
        <p:xfrm>
          <a:off x="313242" y="626483"/>
          <a:ext cx="6170635" cy="1861842"/>
        </p:xfrm>
        <a:graphic>
          <a:graphicData uri="http://schemas.openxmlformats.org/drawingml/2006/table">
            <a:tbl>
              <a:tblPr firstRow="1" bandRow="1">
                <a:tableStyleId>{5C22544A-7EE6-4342-B048-85BDC9FD1C3A}</a:tableStyleId>
              </a:tblPr>
              <a:tblGrid>
                <a:gridCol w="3196971">
                  <a:extLst>
                    <a:ext uri="{9D8B030D-6E8A-4147-A177-3AD203B41FA5}">
                      <a16:colId xmlns:a16="http://schemas.microsoft.com/office/drawing/2014/main" val="950307692"/>
                    </a:ext>
                  </a:extLst>
                </a:gridCol>
                <a:gridCol w="2973664">
                  <a:extLst>
                    <a:ext uri="{9D8B030D-6E8A-4147-A177-3AD203B41FA5}">
                      <a16:colId xmlns:a16="http://schemas.microsoft.com/office/drawing/2014/main" val="443602563"/>
                    </a:ext>
                  </a:extLst>
                </a:gridCol>
              </a:tblGrid>
              <a:tr h="285334">
                <a:tc>
                  <a:txBody>
                    <a:bodyPr/>
                    <a:lstStyle/>
                    <a:p>
                      <a:pPr lvl="0">
                        <a:buNone/>
                      </a:pPr>
                      <a:r>
                        <a:rPr lang="it-IT" err="1"/>
                        <a:t>Entity</a:t>
                      </a:r>
                    </a:p>
                  </a:txBody>
                  <a:tcPr/>
                </a:tc>
                <a:tc>
                  <a:txBody>
                    <a:bodyPr/>
                    <a:lstStyle/>
                    <a:p>
                      <a:endParaRPr lang="it-IT"/>
                    </a:p>
                  </a:txBody>
                  <a:tcPr/>
                </a:tc>
                <a:extLst>
                  <a:ext uri="{0D108BD9-81ED-4DB2-BD59-A6C34878D82A}">
                    <a16:rowId xmlns:a16="http://schemas.microsoft.com/office/drawing/2014/main" val="1070529191"/>
                  </a:ext>
                </a:extLst>
              </a:tr>
              <a:tr h="285334">
                <a:tc>
                  <a:txBody>
                    <a:bodyPr/>
                    <a:lstStyle/>
                    <a:p>
                      <a:r>
                        <a:rPr lang="it-IT" sz="1200"/>
                        <a:t>Customer</a:t>
                      </a:r>
                    </a:p>
                  </a:txBody>
                  <a:tcPr/>
                </a:tc>
                <a:tc>
                  <a:txBody>
                    <a:bodyPr/>
                    <a:lstStyle/>
                    <a:p>
                      <a:r>
                        <a:rPr lang="it-IT" sz="1200"/>
                        <a:t>Cliente/Utente Generico</a:t>
                      </a:r>
                    </a:p>
                  </a:txBody>
                  <a:tcPr/>
                </a:tc>
                <a:extLst>
                  <a:ext uri="{0D108BD9-81ED-4DB2-BD59-A6C34878D82A}">
                    <a16:rowId xmlns:a16="http://schemas.microsoft.com/office/drawing/2014/main" val="2354627769"/>
                  </a:ext>
                </a:extLst>
              </a:tr>
              <a:tr h="285334">
                <a:tc>
                  <a:txBody>
                    <a:bodyPr/>
                    <a:lstStyle/>
                    <a:p>
                      <a:r>
                        <a:rPr lang="it-IT" sz="1200"/>
                        <a:t>Seller</a:t>
                      </a:r>
                    </a:p>
                  </a:txBody>
                  <a:tcPr/>
                </a:tc>
                <a:tc>
                  <a:txBody>
                    <a:bodyPr/>
                    <a:lstStyle/>
                    <a:p>
                      <a:r>
                        <a:rPr lang="it-IT" sz="1200"/>
                        <a:t>Gestisce Dashboard/Vendite</a:t>
                      </a:r>
                    </a:p>
                  </a:txBody>
                  <a:tcPr/>
                </a:tc>
                <a:extLst>
                  <a:ext uri="{0D108BD9-81ED-4DB2-BD59-A6C34878D82A}">
                    <a16:rowId xmlns:a16="http://schemas.microsoft.com/office/drawing/2014/main" val="1677556717"/>
                  </a:ext>
                </a:extLst>
              </a:tr>
              <a:tr h="285334">
                <a:tc>
                  <a:txBody>
                    <a:bodyPr/>
                    <a:lstStyle/>
                    <a:p>
                      <a:r>
                        <a:rPr lang="it-IT" sz="1200"/>
                        <a:t>Admin</a:t>
                      </a:r>
                    </a:p>
                  </a:txBody>
                  <a:tcPr/>
                </a:tc>
                <a:tc>
                  <a:txBody>
                    <a:bodyPr/>
                    <a:lstStyle/>
                    <a:p>
                      <a:r>
                        <a:rPr lang="it-IT" sz="1200"/>
                        <a:t>Gestisce la Dashboard</a:t>
                      </a:r>
                    </a:p>
                    <a:p>
                      <a:pPr lvl="0" algn="l">
                        <a:lnSpc>
                          <a:spcPct val="100000"/>
                        </a:lnSpc>
                        <a:spcBef>
                          <a:spcPts val="0"/>
                        </a:spcBef>
                        <a:spcAft>
                          <a:spcPts val="0"/>
                        </a:spcAft>
                        <a:buNone/>
                      </a:pPr>
                      <a:r>
                        <a:rPr lang="it-IT" sz="1200" b="0" i="0" u="none" strike="noStrike" noProof="0">
                          <a:latin typeface="Calibri"/>
                        </a:rPr>
                        <a:t>Fornisce l’autorizzazione ai Seller per l’utilizzo della Dashboard </a:t>
                      </a:r>
                      <a:endParaRPr lang="it-IT" sz="1200"/>
                    </a:p>
                  </a:txBody>
                  <a:tcPr/>
                </a:tc>
                <a:extLst>
                  <a:ext uri="{0D108BD9-81ED-4DB2-BD59-A6C34878D82A}">
                    <a16:rowId xmlns:a16="http://schemas.microsoft.com/office/drawing/2014/main" val="2155141433"/>
                  </a:ext>
                </a:extLst>
              </a:tr>
              <a:tr h="285334">
                <a:tc>
                  <a:txBody>
                    <a:bodyPr/>
                    <a:lstStyle/>
                    <a:p>
                      <a:r>
                        <a:rPr lang="it-IT" sz="1200"/>
                        <a:t>Dashboard</a:t>
                      </a:r>
                    </a:p>
                  </a:txBody>
                  <a:tcPr/>
                </a:tc>
                <a:tc>
                  <a:txBody>
                    <a:bodyPr/>
                    <a:lstStyle/>
                    <a:p>
                      <a:r>
                        <a:rPr lang="it-IT" sz="1200"/>
                        <a:t>Menu della dashboard</a:t>
                      </a:r>
                    </a:p>
                  </a:txBody>
                  <a:tcPr/>
                </a:tc>
                <a:extLst>
                  <a:ext uri="{0D108BD9-81ED-4DB2-BD59-A6C34878D82A}">
                    <a16:rowId xmlns:a16="http://schemas.microsoft.com/office/drawing/2014/main" val="119668481"/>
                  </a:ext>
                </a:extLst>
              </a:tr>
            </a:tbl>
          </a:graphicData>
        </a:graphic>
      </p:graphicFrame>
    </p:spTree>
    <p:extLst>
      <p:ext uri="{BB962C8B-B14F-4D97-AF65-F5344CB8AC3E}">
        <p14:creationId xmlns:p14="http://schemas.microsoft.com/office/powerpoint/2010/main" val="1520346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a 3">
            <a:extLst>
              <a:ext uri="{FF2B5EF4-FFF2-40B4-BE49-F238E27FC236}">
                <a16:creationId xmlns:a16="http://schemas.microsoft.com/office/drawing/2014/main" id="{21261BBD-662D-D13B-676A-EA2143A80287}"/>
              </a:ext>
            </a:extLst>
          </p:cNvPr>
          <p:cNvGraphicFramePr>
            <a:graphicFrameLocks noGrp="1"/>
          </p:cNvGraphicFramePr>
          <p:nvPr>
            <p:extLst>
              <p:ext uri="{D42A27DB-BD31-4B8C-83A1-F6EECF244321}">
                <p14:modId xmlns:p14="http://schemas.microsoft.com/office/powerpoint/2010/main" val="274808428"/>
              </p:ext>
            </p:extLst>
          </p:nvPr>
        </p:nvGraphicFramePr>
        <p:xfrm>
          <a:off x="343682" y="0"/>
          <a:ext cx="6170635" cy="8669600"/>
        </p:xfrm>
        <a:graphic>
          <a:graphicData uri="http://schemas.openxmlformats.org/drawingml/2006/table">
            <a:tbl>
              <a:tblPr firstRow="1" bandRow="1">
                <a:tableStyleId>{5C22544A-7EE6-4342-B048-85BDC9FD1C3A}</a:tableStyleId>
              </a:tblPr>
              <a:tblGrid>
                <a:gridCol w="3196971">
                  <a:extLst>
                    <a:ext uri="{9D8B030D-6E8A-4147-A177-3AD203B41FA5}">
                      <a16:colId xmlns:a16="http://schemas.microsoft.com/office/drawing/2014/main" val="950307692"/>
                    </a:ext>
                  </a:extLst>
                </a:gridCol>
                <a:gridCol w="2973664">
                  <a:extLst>
                    <a:ext uri="{9D8B030D-6E8A-4147-A177-3AD203B41FA5}">
                      <a16:colId xmlns:a16="http://schemas.microsoft.com/office/drawing/2014/main" val="443602563"/>
                    </a:ext>
                  </a:extLst>
                </a:gridCol>
              </a:tblGrid>
              <a:tr h="690113">
                <a:tc>
                  <a:txBody>
                    <a:bodyPr/>
                    <a:lstStyle/>
                    <a:p>
                      <a:pPr lvl="0">
                        <a:buNone/>
                      </a:pPr>
                      <a:r>
                        <a:rPr lang="it-IT">
                          <a:solidFill>
                            <a:schemeClr val="bg1"/>
                          </a:solidFill>
                        </a:rPr>
                        <a:t>Boundary</a:t>
                      </a:r>
                      <a:endParaRPr lang="it-IT" err="1">
                        <a:solidFill>
                          <a:schemeClr val="bg1"/>
                        </a:solidFill>
                      </a:endParaRPr>
                    </a:p>
                  </a:txBody>
                  <a:tcPr>
                    <a:solidFill>
                      <a:srgbClr val="92D050"/>
                    </a:solidFill>
                  </a:tcPr>
                </a:tc>
                <a:tc>
                  <a:txBody>
                    <a:bodyPr/>
                    <a:lstStyle/>
                    <a:p>
                      <a:endParaRPr lang="it-IT"/>
                    </a:p>
                  </a:txBody>
                  <a:tcPr>
                    <a:solidFill>
                      <a:srgbClr val="92D050"/>
                    </a:solidFill>
                  </a:tcPr>
                </a:tc>
                <a:extLst>
                  <a:ext uri="{0D108BD9-81ED-4DB2-BD59-A6C34878D82A}">
                    <a16:rowId xmlns:a16="http://schemas.microsoft.com/office/drawing/2014/main" val="1070529191"/>
                  </a:ext>
                </a:extLst>
              </a:tr>
              <a:tr h="285334">
                <a:tc>
                  <a:txBody>
                    <a:bodyPr/>
                    <a:lstStyle/>
                    <a:p>
                      <a:pPr lvl="0" algn="l">
                        <a:lnSpc>
                          <a:spcPct val="100000"/>
                        </a:lnSpc>
                        <a:spcBef>
                          <a:spcPts val="0"/>
                        </a:spcBef>
                        <a:spcAft>
                          <a:spcPts val="0"/>
                        </a:spcAft>
                        <a:buNone/>
                      </a:pPr>
                      <a:r>
                        <a:rPr lang="it-IT" sz="1200" b="1" i="0" u="none" strike="noStrike" noProof="0">
                          <a:latin typeface="Calibri"/>
                        </a:rPr>
                        <a:t>Log-in </a:t>
                      </a:r>
                      <a:endParaRPr lang="it-IT" b="1" i="0">
                        <a:latin typeface="Calibri"/>
                      </a:endParaRP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lgn="l">
                        <a:lnSpc>
                          <a:spcPct val="100000"/>
                        </a:lnSpc>
                        <a:spcBef>
                          <a:spcPts val="0"/>
                        </a:spcBef>
                        <a:spcAft>
                          <a:spcPts val="0"/>
                        </a:spcAft>
                        <a:buNone/>
                      </a:pPr>
                      <a:r>
                        <a:rPr lang="it-IT" sz="1200" b="0" i="0" u="none" strike="noStrike" noProof="0">
                          <a:latin typeface="Calibri"/>
                        </a:rPr>
                        <a:t>Modulo dove inserire i dati per accedere </a:t>
                      </a:r>
                      <a:endParaRPr lang="it-IT" b="0" i="0">
                        <a:latin typeface="Calibri"/>
                      </a:endParaRP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2354627769"/>
                  </a:ext>
                </a:extLst>
              </a:tr>
              <a:tr h="285334">
                <a:tc>
                  <a:txBody>
                    <a:bodyPr/>
                    <a:lstStyle/>
                    <a:p>
                      <a:pPr lvl="0" algn="l">
                        <a:lnSpc>
                          <a:spcPct val="100000"/>
                        </a:lnSpc>
                        <a:spcBef>
                          <a:spcPts val="0"/>
                        </a:spcBef>
                        <a:spcAft>
                          <a:spcPts val="0"/>
                        </a:spcAft>
                        <a:buNone/>
                      </a:pPr>
                      <a:r>
                        <a:rPr lang="it-IT" sz="1200" b="1" i="0" u="none" strike="noStrike" noProof="0">
                          <a:latin typeface="Calibri"/>
                        </a:rPr>
                        <a:t>Sign-up  Admin/Seller</a:t>
                      </a:r>
                      <a:endParaRPr lang="it-IT" b="1" i="0">
                        <a:latin typeface="Calibri"/>
                      </a:endParaRP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lgn="l">
                        <a:lnSpc>
                          <a:spcPct val="100000"/>
                        </a:lnSpc>
                        <a:spcBef>
                          <a:spcPts val="0"/>
                        </a:spcBef>
                        <a:spcAft>
                          <a:spcPts val="0"/>
                        </a:spcAft>
                        <a:buNone/>
                      </a:pPr>
                      <a:r>
                        <a:rPr lang="it-IT" sz="1200" b="0" i="0" u="none" strike="noStrike" noProof="0">
                          <a:latin typeface="Calibri"/>
                        </a:rPr>
                        <a:t>Modulo per registrarsi alla Dashboard </a:t>
                      </a:r>
                      <a:endParaRPr lang="it-IT" b="0" i="0">
                        <a:latin typeface="Calibri"/>
                      </a:endParaRP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1677556717"/>
                  </a:ext>
                </a:extLst>
              </a:tr>
              <a:tr h="285334">
                <a:tc>
                  <a:txBody>
                    <a:bodyPr/>
                    <a:lstStyle/>
                    <a:p>
                      <a:pPr lvl="0">
                        <a:buNone/>
                      </a:pPr>
                      <a:r>
                        <a:rPr lang="it-IT" sz="1200" b="1" i="0" u="none" strike="noStrike" noProof="0">
                          <a:solidFill>
                            <a:srgbClr val="000000"/>
                          </a:solidFill>
                          <a:latin typeface="Calibri"/>
                        </a:rPr>
                        <a:t>Sign-up  Customer</a:t>
                      </a:r>
                      <a:endParaRPr lang="it-IT" b="1" i="0">
                        <a:latin typeface="Calibri"/>
                      </a:endParaRP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b="0" i="0" u="none" strike="noStrike" noProof="0">
                          <a:solidFill>
                            <a:srgbClr val="000000"/>
                          </a:solidFill>
                          <a:latin typeface="Calibri"/>
                        </a:rPr>
                        <a:t>Modulo per registrarsi al e-commerce</a:t>
                      </a:r>
                      <a:endParaRPr lang="it-IT" b="0" i="0">
                        <a:latin typeface="Calibri"/>
                      </a:endParaRP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2155141433"/>
                  </a:ext>
                </a:extLst>
              </a:tr>
              <a:tr h="285334">
                <a:tc>
                  <a:txBody>
                    <a:bodyPr/>
                    <a:lstStyle/>
                    <a:p>
                      <a:pPr lvl="0">
                        <a:buNone/>
                      </a:pPr>
                      <a:r>
                        <a:rPr lang="it-IT" sz="1200" b="1"/>
                        <a:t>Evaluate Sign-up</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r>
                        <a:rPr lang="it-IT" sz="1200"/>
                        <a:t>Modulo conferma registrazione del seller</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694436005"/>
                  </a:ext>
                </a:extLst>
              </a:tr>
              <a:tr h="285334">
                <a:tc>
                  <a:txBody>
                    <a:bodyPr/>
                    <a:lstStyle/>
                    <a:p>
                      <a:pPr lvl="0">
                        <a:buNone/>
                      </a:pPr>
                      <a:r>
                        <a:rPr lang="it-IT" sz="1200" b="1"/>
                        <a:t>Retrivie Password</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a:t>Pulsante con Modulo per reimpostare la password</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3418845693"/>
                  </a:ext>
                </a:extLst>
              </a:tr>
              <a:tr h="285334">
                <a:tc>
                  <a:txBody>
                    <a:bodyPr/>
                    <a:lstStyle/>
                    <a:p>
                      <a:pPr lvl="0" algn="l">
                        <a:lnSpc>
                          <a:spcPct val="100000"/>
                        </a:lnSpc>
                        <a:spcBef>
                          <a:spcPts val="0"/>
                        </a:spcBef>
                        <a:spcAft>
                          <a:spcPts val="0"/>
                        </a:spcAft>
                        <a:buNone/>
                      </a:pPr>
                      <a:r>
                        <a:rPr lang="it-IT" sz="1200" b="1" i="0" u="none" strike="noStrike" noProof="0">
                          <a:solidFill>
                            <a:srgbClr val="000000"/>
                          </a:solidFill>
                          <a:latin typeface="Calibri"/>
                        </a:rPr>
                        <a:t>Retrivie Password Admin/Seller</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a:t>Pulsante con Modulo per reimpostare la password per Account Admin/Seller</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405437549"/>
                  </a:ext>
                </a:extLst>
              </a:tr>
              <a:tr h="285334">
                <a:tc>
                  <a:txBody>
                    <a:bodyPr/>
                    <a:lstStyle/>
                    <a:p>
                      <a:r>
                        <a:rPr lang="it-IT" sz="1200" b="1"/>
                        <a:t>Search Button</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r>
                        <a:rPr lang="it-IT" sz="1200"/>
                        <a:t>Pulsante che mostra Barra ricerca prodotto</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119668481"/>
                  </a:ext>
                </a:extLst>
              </a:tr>
              <a:tr h="285334">
                <a:tc>
                  <a:txBody>
                    <a:bodyPr/>
                    <a:lstStyle/>
                    <a:p>
                      <a:r>
                        <a:rPr lang="it-IT" sz="1200" b="1"/>
                        <a:t>Visualizza Tracking Button</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r>
                        <a:rPr lang="it-IT" sz="1200"/>
                        <a:t>Pulsante che mostra Tracking Ordine</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3191562451"/>
                  </a:ext>
                </a:extLst>
              </a:tr>
              <a:tr h="453201">
                <a:tc>
                  <a:txBody>
                    <a:bodyPr/>
                    <a:lstStyle/>
                    <a:p>
                      <a:pPr lvl="0">
                        <a:buNone/>
                      </a:pPr>
                      <a:r>
                        <a:rPr lang="it-IT" sz="1200" b="1"/>
                        <a:t>Notifica Ordine</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a:t>Messaggio inviato al customers per confermare ordine</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2117050245"/>
                  </a:ext>
                </a:extLst>
              </a:tr>
              <a:tr h="453201">
                <a:tc>
                  <a:txBody>
                    <a:bodyPr/>
                    <a:lstStyle/>
                    <a:p>
                      <a:pPr lvl="0">
                        <a:buNone/>
                      </a:pPr>
                      <a:r>
                        <a:rPr lang="it-IT" sz="1200" b="1"/>
                        <a:t>Bottone Acquista Ora</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a:t>Pulsante che mostra popup per acquisto immediato del prodotto</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1815870840"/>
                  </a:ext>
                </a:extLst>
              </a:tr>
              <a:tr h="493187">
                <a:tc>
                  <a:txBody>
                    <a:bodyPr/>
                    <a:lstStyle/>
                    <a:p>
                      <a:pPr lvl="0">
                        <a:buNone/>
                      </a:pPr>
                      <a:r>
                        <a:rPr lang="it-IT" sz="1200" b="1"/>
                        <a:t>Bottone Richiedere Reso</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a:t>Pulsante che permette di richiedere reso di un ordine effettuato</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2997889100"/>
                  </a:ext>
                </a:extLst>
              </a:tr>
              <a:tr h="493187">
                <a:tc>
                  <a:txBody>
                    <a:bodyPr/>
                    <a:lstStyle/>
                    <a:p>
                      <a:pPr lvl="0">
                        <a:buNone/>
                      </a:pPr>
                      <a:r>
                        <a:rPr lang="it-IT" sz="1200" b="1"/>
                        <a:t>Bottone Gestione Profilo</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a:t>Pulsante che porta alla pagina "Gestione profilo"</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3551242158"/>
                  </a:ext>
                </a:extLst>
              </a:tr>
              <a:tr h="493187">
                <a:tc>
                  <a:txBody>
                    <a:bodyPr/>
                    <a:lstStyle/>
                    <a:p>
                      <a:pPr lvl="0">
                        <a:buNone/>
                      </a:pPr>
                      <a:r>
                        <a:rPr lang="it-IT" sz="1200" b="1"/>
                        <a:t>Bottone Checkout</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a:t>Pulsante che porta al riepilogo del carrello</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684371467"/>
                  </a:ext>
                </a:extLst>
              </a:tr>
              <a:tr h="493187">
                <a:tc>
                  <a:txBody>
                    <a:bodyPr/>
                    <a:lstStyle/>
                    <a:p>
                      <a:pPr lvl="0">
                        <a:buNone/>
                      </a:pPr>
                      <a:r>
                        <a:rPr lang="it-IT" sz="1200" b="1"/>
                        <a:t>Bottone Gestione Ordini</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a:t>Pulsante che Visualizza menù Ordini</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3466961660"/>
                  </a:ext>
                </a:extLst>
              </a:tr>
              <a:tr h="493187">
                <a:tc>
                  <a:txBody>
                    <a:bodyPr/>
                    <a:lstStyle/>
                    <a:p>
                      <a:pPr lvl="0">
                        <a:buNone/>
                      </a:pPr>
                      <a:r>
                        <a:rPr lang="it-IT" sz="1200" b="1"/>
                        <a:t>Bottone Gestione Prodotti</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lgn="l">
                        <a:lnSpc>
                          <a:spcPct val="100000"/>
                        </a:lnSpc>
                        <a:spcBef>
                          <a:spcPts val="0"/>
                        </a:spcBef>
                        <a:spcAft>
                          <a:spcPts val="0"/>
                        </a:spcAft>
                        <a:buNone/>
                      </a:pPr>
                      <a:r>
                        <a:rPr lang="it-IT" sz="1200" b="0" i="0" u="none" strike="noStrike" noProof="0">
                          <a:solidFill>
                            <a:srgbClr val="000000"/>
                          </a:solidFill>
                          <a:latin typeface="Calibri"/>
                        </a:rPr>
                        <a:t>Pulsante che Visualizza menù Prodotti</a:t>
                      </a:r>
                    </a:p>
                    <a:p>
                      <a:pPr lvl="0">
                        <a:buNone/>
                      </a:pPr>
                      <a:endParaRPr lang="it-IT" sz="1200"/>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3725493267"/>
                  </a:ext>
                </a:extLst>
              </a:tr>
              <a:tr h="493187">
                <a:tc>
                  <a:txBody>
                    <a:bodyPr/>
                    <a:lstStyle/>
                    <a:p>
                      <a:pPr lvl="0">
                        <a:buNone/>
                      </a:pPr>
                      <a:r>
                        <a:rPr lang="it-IT" sz="1200" b="1"/>
                        <a:t>Bottone Gestione Customers</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lgn="l">
                        <a:lnSpc>
                          <a:spcPct val="100000"/>
                        </a:lnSpc>
                        <a:spcBef>
                          <a:spcPts val="0"/>
                        </a:spcBef>
                        <a:spcAft>
                          <a:spcPts val="0"/>
                        </a:spcAft>
                        <a:buNone/>
                      </a:pPr>
                      <a:r>
                        <a:rPr lang="it-IT" sz="1200" b="0" i="0" u="none" strike="noStrike" noProof="0">
                          <a:solidFill>
                            <a:srgbClr val="000000"/>
                          </a:solidFill>
                          <a:latin typeface="Calibri"/>
                        </a:rPr>
                        <a:t>Pulsante che Visualizza menù Customers</a:t>
                      </a:r>
                    </a:p>
                    <a:p>
                      <a:pPr lvl="0">
                        <a:buNone/>
                      </a:pPr>
                      <a:endParaRPr lang="it-IT" sz="1200"/>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3730900238"/>
                  </a:ext>
                </a:extLst>
              </a:tr>
              <a:tr h="493187">
                <a:tc>
                  <a:txBody>
                    <a:bodyPr/>
                    <a:lstStyle/>
                    <a:p>
                      <a:pPr lvl="0">
                        <a:buNone/>
                      </a:pPr>
                      <a:r>
                        <a:rPr lang="it-IT" sz="1200" b="1"/>
                        <a:t>Bottone Gestione Analisi</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lgn="l">
                        <a:lnSpc>
                          <a:spcPct val="100000"/>
                        </a:lnSpc>
                        <a:spcBef>
                          <a:spcPts val="0"/>
                        </a:spcBef>
                        <a:spcAft>
                          <a:spcPts val="0"/>
                        </a:spcAft>
                        <a:buNone/>
                      </a:pPr>
                      <a:r>
                        <a:rPr lang="it-IT" sz="1200" b="0" i="0" u="none" strike="noStrike" noProof="0">
                          <a:solidFill>
                            <a:srgbClr val="000000"/>
                          </a:solidFill>
                          <a:latin typeface="Calibri"/>
                        </a:rPr>
                        <a:t>Pulsante che Visualizza menù Analisi</a:t>
                      </a:r>
                    </a:p>
                    <a:p>
                      <a:pPr lvl="0">
                        <a:buNone/>
                      </a:pPr>
                      <a:endParaRPr lang="it-IT" sz="1200"/>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1181919728"/>
                  </a:ext>
                </a:extLst>
              </a:tr>
              <a:tr h="493187">
                <a:tc>
                  <a:txBody>
                    <a:bodyPr/>
                    <a:lstStyle/>
                    <a:p>
                      <a:pPr lvl="0">
                        <a:buNone/>
                      </a:pPr>
                      <a:r>
                        <a:rPr lang="it-IT" sz="1200" b="1"/>
                        <a:t>Bottone Visualizza Ordini</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a:t>Pulsante che Visualizza gli ordini fatti dal customer</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2195980529"/>
                  </a:ext>
                </a:extLst>
              </a:tr>
              <a:tr h="493187">
                <a:tc>
                  <a:txBody>
                    <a:bodyPr/>
                    <a:lstStyle/>
                    <a:p>
                      <a:pPr lvl="0">
                        <a:buNone/>
                      </a:pPr>
                      <a:r>
                        <a:rPr lang="it-IT" sz="1200" b="1"/>
                        <a:t>Bottone Contatta Servizio Clienti</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tc>
                  <a:txBody>
                    <a:bodyPr/>
                    <a:lstStyle/>
                    <a:p>
                      <a:pPr lvl="0">
                        <a:buNone/>
                      </a:pPr>
                      <a:r>
                        <a:rPr lang="it-IT" sz="1200"/>
                        <a:t>Pulsante che serve a contattare il servizio clienti</a:t>
                      </a:r>
                    </a:p>
                  </a:txBody>
                  <a:tcPr>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a:tcPr>
                </a:tc>
                <a:extLst>
                  <a:ext uri="{0D108BD9-81ED-4DB2-BD59-A6C34878D82A}">
                    <a16:rowId xmlns:a16="http://schemas.microsoft.com/office/drawing/2014/main" val="1219537200"/>
                  </a:ext>
                </a:extLst>
              </a:tr>
            </a:tbl>
          </a:graphicData>
        </a:graphic>
      </p:graphicFrame>
    </p:spTree>
    <p:extLst>
      <p:ext uri="{BB962C8B-B14F-4D97-AF65-F5344CB8AC3E}">
        <p14:creationId xmlns:p14="http://schemas.microsoft.com/office/powerpoint/2010/main" val="2053817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Segnaposto contenuto 3">
            <a:extLst>
              <a:ext uri="{FF2B5EF4-FFF2-40B4-BE49-F238E27FC236}">
                <a16:creationId xmlns:a16="http://schemas.microsoft.com/office/drawing/2014/main" id="{3AF8783B-8842-EC5B-5DFA-EB10D3292F4C}"/>
              </a:ext>
            </a:extLst>
          </p:cNvPr>
          <p:cNvGraphicFramePr>
            <a:graphicFrameLocks/>
          </p:cNvGraphicFramePr>
          <p:nvPr>
            <p:extLst>
              <p:ext uri="{D42A27DB-BD31-4B8C-83A1-F6EECF244321}">
                <p14:modId xmlns:p14="http://schemas.microsoft.com/office/powerpoint/2010/main" val="2566242942"/>
              </p:ext>
            </p:extLst>
          </p:nvPr>
        </p:nvGraphicFramePr>
        <p:xfrm>
          <a:off x="202769" y="295743"/>
          <a:ext cx="6246784" cy="4138568"/>
        </p:xfrm>
        <a:graphic>
          <a:graphicData uri="http://schemas.openxmlformats.org/drawingml/2006/table">
            <a:tbl>
              <a:tblPr firstRow="1" bandRow="1">
                <a:tableStyleId>{775DCB02-9BB8-47FD-8907-85C794F793BA}</a:tableStyleId>
              </a:tblPr>
              <a:tblGrid>
                <a:gridCol w="3123392">
                  <a:extLst>
                    <a:ext uri="{9D8B030D-6E8A-4147-A177-3AD203B41FA5}">
                      <a16:colId xmlns:a16="http://schemas.microsoft.com/office/drawing/2014/main" val="2284419301"/>
                    </a:ext>
                  </a:extLst>
                </a:gridCol>
                <a:gridCol w="3123392">
                  <a:extLst>
                    <a:ext uri="{9D8B030D-6E8A-4147-A177-3AD203B41FA5}">
                      <a16:colId xmlns:a16="http://schemas.microsoft.com/office/drawing/2014/main" val="1686063670"/>
                    </a:ext>
                  </a:extLst>
                </a:gridCol>
              </a:tblGrid>
              <a:tr h="534448">
                <a:tc>
                  <a:txBody>
                    <a:bodyPr/>
                    <a:lstStyle/>
                    <a:p>
                      <a:pPr lvl="0">
                        <a:buNone/>
                      </a:pPr>
                      <a:r>
                        <a:rPr lang="it-IT"/>
                        <a:t>Control</a:t>
                      </a:r>
                    </a:p>
                  </a:txBody>
                  <a:tcPr>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it-IT"/>
                    </a:p>
                  </a:txBody>
                  <a:tcPr>
                    <a:solidFill>
                      <a:srgbClr val="7030A0"/>
                    </a:solidFill>
                  </a:tcPr>
                </a:tc>
                <a:extLst>
                  <a:ext uri="{0D108BD9-81ED-4DB2-BD59-A6C34878D82A}">
                    <a16:rowId xmlns:a16="http://schemas.microsoft.com/office/drawing/2014/main" val="1529070003"/>
                  </a:ext>
                </a:extLst>
              </a:tr>
              <a:tr h="397541">
                <a:tc>
                  <a:txBody>
                    <a:bodyPr/>
                    <a:lstStyle/>
                    <a:p>
                      <a:pPr lvl="0" algn="l">
                        <a:lnSpc>
                          <a:spcPct val="100000"/>
                        </a:lnSpc>
                        <a:spcBef>
                          <a:spcPts val="0"/>
                        </a:spcBef>
                        <a:spcAft>
                          <a:spcPts val="0"/>
                        </a:spcAft>
                        <a:buNone/>
                      </a:pPr>
                      <a:r>
                        <a:rPr lang="it-IT" sz="1200" b="1" u="none" strike="noStrike" noProof="0"/>
                        <a:t>Log-in Checker Admin/Seller</a:t>
                      </a:r>
                      <a:endParaRPr lang="it-IT" sz="1800" b="1" kern="1200">
                        <a:solidFill>
                          <a:schemeClr val="lt1"/>
                        </a:solidFill>
                        <a:latin typeface="+mn-lt"/>
                        <a:ea typeface="+mn-ea"/>
                        <a:cs typeface="+mn-cs"/>
                      </a:endParaRPr>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tc>
                  <a:txBody>
                    <a:bodyPr/>
                    <a:lstStyle/>
                    <a:p>
                      <a:pPr lvl="0" algn="l">
                        <a:lnSpc>
                          <a:spcPct val="100000"/>
                        </a:lnSpc>
                        <a:spcBef>
                          <a:spcPts val="0"/>
                        </a:spcBef>
                        <a:spcAft>
                          <a:spcPts val="0"/>
                        </a:spcAft>
                        <a:buNone/>
                      </a:pPr>
                      <a:r>
                        <a:rPr lang="it-IT" sz="1200" b="0" u="none" strike="noStrike" noProof="0"/>
                        <a:t>Controlla i dati quando viene effettuato l’accesso alla Dashboard </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extLst>
                  <a:ext uri="{0D108BD9-81ED-4DB2-BD59-A6C34878D82A}">
                    <a16:rowId xmlns:a16="http://schemas.microsoft.com/office/drawing/2014/main" val="405372513"/>
                  </a:ext>
                </a:extLst>
              </a:tr>
              <a:tr h="397541">
                <a:tc>
                  <a:txBody>
                    <a:bodyPr/>
                    <a:lstStyle/>
                    <a:p>
                      <a:pPr lvl="0" algn="l">
                        <a:lnSpc>
                          <a:spcPct val="100000"/>
                        </a:lnSpc>
                        <a:spcBef>
                          <a:spcPts val="0"/>
                        </a:spcBef>
                        <a:spcAft>
                          <a:spcPts val="0"/>
                        </a:spcAft>
                        <a:buNone/>
                      </a:pPr>
                      <a:r>
                        <a:rPr lang="it-IT" sz="1200" b="1" u="none" strike="noStrike" noProof="0">
                          <a:solidFill>
                            <a:srgbClr val="000000"/>
                          </a:solidFill>
                        </a:rPr>
                        <a:t>Log-in Checker Customer</a:t>
                      </a:r>
                      <a:endParaRPr lang="it-IT" sz="1200" b="0" u="none" strike="noStrike" noProof="0">
                        <a:solidFill>
                          <a:srgbClr val="000000"/>
                        </a:solidFill>
                      </a:endParaRPr>
                    </a:p>
                    <a:p>
                      <a:pPr lvl="0" algn="l" defTabSz="914400">
                        <a:lnSpc>
                          <a:spcPct val="100000"/>
                        </a:lnSpc>
                        <a:spcBef>
                          <a:spcPts val="0"/>
                        </a:spcBef>
                        <a:spcAft>
                          <a:spcPts val="0"/>
                        </a:spcAft>
                        <a:buNone/>
                        <a:tabLst/>
                        <a:defRPr/>
                      </a:pPr>
                      <a:endParaRPr lang="it-IT" sz="1200" b="1" i="0" u="none" strike="noStrike" noProof="0">
                        <a:latin typeface="Calibri"/>
                      </a:endParaRPr>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tc>
                  <a:txBody>
                    <a:bodyPr/>
                    <a:lstStyle/>
                    <a:p>
                      <a:pPr lvl="0" algn="l">
                        <a:lnSpc>
                          <a:spcPct val="100000"/>
                        </a:lnSpc>
                        <a:spcBef>
                          <a:spcPts val="0"/>
                        </a:spcBef>
                        <a:spcAft>
                          <a:spcPts val="0"/>
                        </a:spcAft>
                        <a:buNone/>
                      </a:pPr>
                      <a:r>
                        <a:rPr lang="it-IT" sz="1200" b="0" u="none" strike="noStrike" noProof="0">
                          <a:solidFill>
                            <a:srgbClr val="000000"/>
                          </a:solidFill>
                        </a:rPr>
                        <a:t>Controlla i dati quando viene effettuato l’accesso all'E-commerce</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extLst>
                  <a:ext uri="{0D108BD9-81ED-4DB2-BD59-A6C34878D82A}">
                    <a16:rowId xmlns:a16="http://schemas.microsoft.com/office/drawing/2014/main" val="1429903584"/>
                  </a:ext>
                </a:extLst>
              </a:tr>
              <a:tr h="980239">
                <a:tc>
                  <a:txBody>
                    <a:bodyPr/>
                    <a:lstStyle/>
                    <a:p>
                      <a:pPr lvl="0" algn="l">
                        <a:lnSpc>
                          <a:spcPct val="100000"/>
                        </a:lnSpc>
                        <a:spcBef>
                          <a:spcPts val="0"/>
                        </a:spcBef>
                        <a:spcAft>
                          <a:spcPts val="0"/>
                        </a:spcAft>
                        <a:buNone/>
                      </a:pPr>
                      <a:r>
                        <a:rPr lang="it-IT" sz="1200" b="1" u="none" strike="noStrike" noProof="0"/>
                        <a:t>Sign-up Checker </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tc>
                  <a:txBody>
                    <a:bodyPr/>
                    <a:lstStyle/>
                    <a:p>
                      <a:pPr lvl="0" algn="l">
                        <a:lnSpc>
                          <a:spcPct val="100000"/>
                        </a:lnSpc>
                        <a:spcBef>
                          <a:spcPts val="0"/>
                        </a:spcBef>
                        <a:spcAft>
                          <a:spcPts val="0"/>
                        </a:spcAft>
                        <a:buNone/>
                      </a:pPr>
                      <a:r>
                        <a:rPr lang="it-IT" sz="1200" b="0" u="none" strike="noStrike" noProof="0"/>
                        <a:t>Controlla i dati quando viene effettuata la registrazione alla Dashboard </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extLst>
                  <a:ext uri="{0D108BD9-81ED-4DB2-BD59-A6C34878D82A}">
                    <a16:rowId xmlns:a16="http://schemas.microsoft.com/office/drawing/2014/main" val="3037448708"/>
                  </a:ext>
                </a:extLst>
              </a:tr>
              <a:tr h="397541">
                <a:tc>
                  <a:txBody>
                    <a:bodyPr/>
                    <a:lstStyle/>
                    <a:p>
                      <a:pPr lvl="0" algn="l">
                        <a:lnSpc>
                          <a:spcPct val="100000"/>
                        </a:lnSpc>
                        <a:spcBef>
                          <a:spcPts val="0"/>
                        </a:spcBef>
                        <a:spcAft>
                          <a:spcPts val="0"/>
                        </a:spcAft>
                        <a:buNone/>
                      </a:pPr>
                      <a:r>
                        <a:rPr lang="it-IT" sz="1200" b="1" u="none" strike="noStrike" noProof="0"/>
                        <a:t>Password Retriever </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tc>
                  <a:txBody>
                    <a:bodyPr/>
                    <a:lstStyle/>
                    <a:p>
                      <a:pPr lvl="0" algn="l">
                        <a:lnSpc>
                          <a:spcPct val="100000"/>
                        </a:lnSpc>
                        <a:spcBef>
                          <a:spcPts val="0"/>
                        </a:spcBef>
                        <a:spcAft>
                          <a:spcPts val="0"/>
                        </a:spcAft>
                        <a:buNone/>
                      </a:pPr>
                      <a:r>
                        <a:rPr lang="it-IT" sz="1200" b="0" u="none" strike="noStrike" noProof="0"/>
                        <a:t>Restituisce la password </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extLst>
                  <a:ext uri="{0D108BD9-81ED-4DB2-BD59-A6C34878D82A}">
                    <a16:rowId xmlns:a16="http://schemas.microsoft.com/office/drawing/2014/main" val="673623836"/>
                  </a:ext>
                </a:extLst>
              </a:tr>
              <a:tr h="397540">
                <a:tc>
                  <a:txBody>
                    <a:bodyPr/>
                    <a:lstStyle/>
                    <a:p>
                      <a:pPr lvl="0">
                        <a:buNone/>
                      </a:pPr>
                      <a:r>
                        <a:rPr lang="it-IT" sz="1200" b="1" err="1"/>
                        <a:t>Evaluate</a:t>
                      </a:r>
                      <a:r>
                        <a:rPr lang="it-IT" sz="1200" b="1"/>
                        <a:t> </a:t>
                      </a:r>
                      <a:r>
                        <a:rPr lang="it-IT" sz="1200" b="1" err="1"/>
                        <a:t>Sign</a:t>
                      </a:r>
                      <a:r>
                        <a:rPr lang="it-IT" sz="1200" b="1"/>
                        <a:t>-up Checker</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tc>
                  <a:txBody>
                    <a:bodyPr/>
                    <a:lstStyle/>
                    <a:p>
                      <a:pPr lvl="0">
                        <a:buNone/>
                      </a:pPr>
                      <a:r>
                        <a:rPr lang="it-IT" sz="1200"/>
                        <a:t>Restituisce la richiesta di registrazione da parte di un Seller</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extLst>
                  <a:ext uri="{0D108BD9-81ED-4DB2-BD59-A6C34878D82A}">
                    <a16:rowId xmlns:a16="http://schemas.microsoft.com/office/drawing/2014/main" val="2964955323"/>
                  </a:ext>
                </a:extLst>
              </a:tr>
              <a:tr h="397540">
                <a:tc>
                  <a:txBody>
                    <a:bodyPr/>
                    <a:lstStyle/>
                    <a:p>
                      <a:pPr lvl="0" algn="l">
                        <a:lnSpc>
                          <a:spcPct val="100000"/>
                        </a:lnSpc>
                        <a:spcBef>
                          <a:spcPts val="0"/>
                        </a:spcBef>
                        <a:spcAft>
                          <a:spcPts val="0"/>
                        </a:spcAft>
                        <a:buNone/>
                      </a:pPr>
                      <a:r>
                        <a:rPr lang="it-IT" sz="1200" b="1" u="none" strike="noStrike" noProof="0"/>
                        <a:t>Product </a:t>
                      </a:r>
                      <a:r>
                        <a:rPr lang="it-IT" sz="1200" b="1" u="none" strike="noStrike" noProof="0" err="1"/>
                        <a:t>Search</a:t>
                      </a:r>
                      <a:r>
                        <a:rPr lang="it-IT" sz="1200" b="1" u="none" strike="noStrike" noProof="0"/>
                        <a:t> </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tc>
                  <a:txBody>
                    <a:bodyPr/>
                    <a:lstStyle/>
                    <a:p>
                      <a:pPr lvl="0" algn="l">
                        <a:lnSpc>
                          <a:spcPct val="100000"/>
                        </a:lnSpc>
                        <a:spcBef>
                          <a:spcPts val="0"/>
                        </a:spcBef>
                        <a:spcAft>
                          <a:spcPts val="0"/>
                        </a:spcAft>
                        <a:buNone/>
                      </a:pPr>
                      <a:r>
                        <a:rPr lang="it-IT" sz="1200" b="0" u="none" strike="noStrike" noProof="0"/>
                        <a:t>Cerca i prodotti all’interno del catalogo principale</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extLst>
                  <a:ext uri="{0D108BD9-81ED-4DB2-BD59-A6C34878D82A}">
                    <a16:rowId xmlns:a16="http://schemas.microsoft.com/office/drawing/2014/main" val="1069621327"/>
                  </a:ext>
                </a:extLst>
              </a:tr>
              <a:tr h="397540">
                <a:tc>
                  <a:txBody>
                    <a:bodyPr/>
                    <a:lstStyle/>
                    <a:p>
                      <a:pPr lvl="0" algn="l">
                        <a:lnSpc>
                          <a:spcPct val="100000"/>
                        </a:lnSpc>
                        <a:spcBef>
                          <a:spcPts val="0"/>
                        </a:spcBef>
                        <a:spcAft>
                          <a:spcPts val="0"/>
                        </a:spcAft>
                        <a:buNone/>
                      </a:pPr>
                      <a:r>
                        <a:rPr lang="it-IT" sz="1200" b="1" u="none" strike="noStrike" noProof="0" err="1"/>
                        <a:t>Profile</a:t>
                      </a:r>
                      <a:r>
                        <a:rPr lang="it-IT" sz="1200" b="1" u="none" strike="noStrike" noProof="0"/>
                        <a:t> </a:t>
                      </a:r>
                      <a:r>
                        <a:rPr lang="it-IT" sz="1200" b="1" u="none" strike="noStrike" noProof="0" err="1"/>
                        <a:t>Modifier</a:t>
                      </a:r>
                      <a:r>
                        <a:rPr lang="it-IT" sz="1200" b="1" u="none" strike="noStrike" noProof="0"/>
                        <a:t> </a:t>
                      </a:r>
                      <a:endParaRPr lang="it-IT"/>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tc>
                  <a:txBody>
                    <a:bodyPr/>
                    <a:lstStyle/>
                    <a:p>
                      <a:pPr lvl="0" algn="l">
                        <a:lnSpc>
                          <a:spcPct val="100000"/>
                        </a:lnSpc>
                        <a:spcBef>
                          <a:spcPts val="0"/>
                        </a:spcBef>
                        <a:spcAft>
                          <a:spcPts val="0"/>
                        </a:spcAft>
                        <a:buNone/>
                      </a:pPr>
                      <a:r>
                        <a:rPr lang="it-IT" sz="1200" b="0" u="none" strike="noStrike" noProof="0"/>
                        <a:t>Modifica i dati del profilo di un Utente</a:t>
                      </a:r>
                      <a:endParaRPr lang="it-IT" sz="1200" b="0" i="0" u="none" strike="noStrike" noProof="0">
                        <a:latin typeface="Calibri"/>
                      </a:endParaRPr>
                    </a:p>
                  </a:txBody>
                  <a:tc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10800000" scaled="1"/>
                      <a:tileRect/>
                    </a:gradFill>
                  </a:tcPr>
                </a:tc>
                <a:extLst>
                  <a:ext uri="{0D108BD9-81ED-4DB2-BD59-A6C34878D82A}">
                    <a16:rowId xmlns:a16="http://schemas.microsoft.com/office/drawing/2014/main" val="477479481"/>
                  </a:ext>
                </a:extLst>
              </a:tr>
            </a:tbl>
          </a:graphicData>
        </a:graphic>
      </p:graphicFrame>
    </p:spTree>
    <p:extLst>
      <p:ext uri="{BB962C8B-B14F-4D97-AF65-F5344CB8AC3E}">
        <p14:creationId xmlns:p14="http://schemas.microsoft.com/office/powerpoint/2010/main" val="3524531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DEEB5D5D-985D-6DA4-3F1E-BEE69AF9235B}"/>
              </a:ext>
            </a:extLst>
          </p:cNvPr>
          <p:cNvSpPr txBox="1"/>
          <p:nvPr/>
        </p:nvSpPr>
        <p:spPr>
          <a:xfrm>
            <a:off x="104384" y="104383"/>
            <a:ext cx="2330885" cy="4308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it-IT" sz="2200">
                <a:solidFill>
                  <a:schemeClr val="accent5">
                    <a:lumMod val="75000"/>
                  </a:schemeClr>
                </a:solidFill>
                <a:ea typeface="+mn-lt"/>
                <a:cs typeface="+mn-lt"/>
              </a:rPr>
              <a:t>6.0 Object model </a:t>
            </a:r>
            <a:endParaRPr lang="it-IT" sz="1800">
              <a:solidFill>
                <a:schemeClr val="accent5">
                  <a:lumMod val="75000"/>
                </a:schemeClr>
              </a:solidFill>
              <a:cs typeface="Calibri"/>
            </a:endParaRPr>
          </a:p>
        </p:txBody>
      </p:sp>
      <p:sp>
        <p:nvSpPr>
          <p:cNvPr id="5" name="CasellaDiTesto 4">
            <a:extLst>
              <a:ext uri="{FF2B5EF4-FFF2-40B4-BE49-F238E27FC236}">
                <a16:creationId xmlns:a16="http://schemas.microsoft.com/office/drawing/2014/main" id="{0B836A0A-742F-209C-043F-06C5F76E2358}"/>
              </a:ext>
            </a:extLst>
          </p:cNvPr>
          <p:cNvSpPr txBox="1"/>
          <p:nvPr/>
        </p:nvSpPr>
        <p:spPr>
          <a:xfrm>
            <a:off x="203547" y="678493"/>
            <a:ext cx="6485350" cy="9541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it-IT" sz="1400" b="1">
                <a:solidFill>
                  <a:schemeClr val="accent5">
                    <a:lumMod val="75000"/>
                  </a:schemeClr>
                </a:solidFill>
                <a:ea typeface="+mn-lt"/>
                <a:cs typeface="+mn-lt"/>
              </a:rPr>
              <a:t>Class </a:t>
            </a:r>
            <a:r>
              <a:rPr lang="it-IT" sz="1400" b="1" err="1">
                <a:solidFill>
                  <a:schemeClr val="accent5">
                    <a:lumMod val="75000"/>
                  </a:schemeClr>
                </a:solidFill>
                <a:ea typeface="+mn-lt"/>
                <a:cs typeface="+mn-lt"/>
              </a:rPr>
              <a:t>Diagram</a:t>
            </a:r>
            <a:r>
              <a:rPr lang="it-IT" sz="1400" b="1">
                <a:solidFill>
                  <a:schemeClr val="accent5">
                    <a:lumMod val="75000"/>
                  </a:schemeClr>
                </a:solidFill>
                <a:ea typeface="+mn-lt"/>
                <a:cs typeface="+mn-lt"/>
              </a:rPr>
              <a:t>: </a:t>
            </a:r>
            <a:endParaRPr lang="it-IT" sz="1800">
              <a:solidFill>
                <a:schemeClr val="accent5">
                  <a:lumMod val="75000"/>
                </a:schemeClr>
              </a:solidFill>
              <a:cs typeface="Calibri"/>
            </a:endParaRPr>
          </a:p>
          <a:p>
            <a:r>
              <a:rPr lang="it-IT" sz="1200">
                <a:ea typeface="+mn-lt"/>
                <a:cs typeface="+mn-lt"/>
              </a:rPr>
              <a:t>Dopo una fase di analisi, eseguita tramite l’utilizzo di analisi di Abbot e gli scenari, è stato identificato questo diagramma delle classi</a:t>
            </a:r>
            <a:r>
              <a:rPr lang="it-IT" sz="1000" b="1">
                <a:ea typeface="+mn-lt"/>
                <a:cs typeface="+mn-lt"/>
              </a:rPr>
              <a:t>. </a:t>
            </a:r>
            <a:endParaRPr lang="it-IT" sz="1800">
              <a:ea typeface="Calibri" panose="020F0502020204030204"/>
              <a:cs typeface="Calibri" panose="020F0502020204030204"/>
            </a:endParaRPr>
          </a:p>
          <a:p>
            <a:pPr algn="l"/>
            <a:endParaRPr lang="it-IT" sz="1800">
              <a:cs typeface="Calibri"/>
            </a:endParaRPr>
          </a:p>
        </p:txBody>
      </p:sp>
      <p:pic>
        <p:nvPicPr>
          <p:cNvPr id="2" name="Immagine 1" descr="Immagine che contiene testo, schermata, Biglietto Post-it, diagramma&#10;&#10;Descrizione generata automaticamente">
            <a:extLst>
              <a:ext uri="{FF2B5EF4-FFF2-40B4-BE49-F238E27FC236}">
                <a16:creationId xmlns:a16="http://schemas.microsoft.com/office/drawing/2014/main" id="{19D220E2-D9A0-D330-A9A4-7B290CD34E09}"/>
              </a:ext>
            </a:extLst>
          </p:cNvPr>
          <p:cNvPicPr>
            <a:picLocks noChangeAspect="1"/>
          </p:cNvPicPr>
          <p:nvPr/>
        </p:nvPicPr>
        <p:blipFill>
          <a:blip r:embed="rId2"/>
          <a:stretch>
            <a:fillRect/>
          </a:stretch>
        </p:blipFill>
        <p:spPr>
          <a:xfrm>
            <a:off x="1151582" y="1825478"/>
            <a:ext cx="4712729" cy="4415263"/>
          </a:xfrm>
          <a:prstGeom prst="rect">
            <a:avLst/>
          </a:prstGeom>
        </p:spPr>
      </p:pic>
    </p:spTree>
    <p:extLst>
      <p:ext uri="{BB962C8B-B14F-4D97-AF65-F5344CB8AC3E}">
        <p14:creationId xmlns:p14="http://schemas.microsoft.com/office/powerpoint/2010/main" val="2196440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testo, schermata, diagramma, Rettangolo&#10;&#10;Descrizione generata automaticamente">
            <a:extLst>
              <a:ext uri="{FF2B5EF4-FFF2-40B4-BE49-F238E27FC236}">
                <a16:creationId xmlns:a16="http://schemas.microsoft.com/office/drawing/2014/main" id="{AF4E3972-3E0E-3353-C522-F636D8AA9425}"/>
              </a:ext>
            </a:extLst>
          </p:cNvPr>
          <p:cNvPicPr>
            <a:picLocks noChangeAspect="1"/>
          </p:cNvPicPr>
          <p:nvPr/>
        </p:nvPicPr>
        <p:blipFill>
          <a:blip r:embed="rId2"/>
          <a:stretch>
            <a:fillRect/>
          </a:stretch>
        </p:blipFill>
        <p:spPr>
          <a:xfrm>
            <a:off x="444500" y="1188407"/>
            <a:ext cx="5715000" cy="5881619"/>
          </a:xfrm>
          <a:prstGeom prst="rect">
            <a:avLst/>
          </a:prstGeom>
        </p:spPr>
      </p:pic>
    </p:spTree>
    <p:extLst>
      <p:ext uri="{BB962C8B-B14F-4D97-AF65-F5344CB8AC3E}">
        <p14:creationId xmlns:p14="http://schemas.microsoft.com/office/powerpoint/2010/main" val="243124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5F9768F-F906-9B53-AFEA-E60948DF4BAC}"/>
              </a:ext>
            </a:extLst>
          </p:cNvPr>
          <p:cNvSpPr>
            <a:spLocks noGrp="1"/>
          </p:cNvSpPr>
          <p:nvPr>
            <p:ph type="title"/>
          </p:nvPr>
        </p:nvSpPr>
        <p:spPr>
          <a:xfrm>
            <a:off x="101375" y="171154"/>
            <a:ext cx="5915026" cy="602646"/>
          </a:xfrm>
        </p:spPr>
        <p:txBody>
          <a:bodyPr>
            <a:normAutofit/>
          </a:bodyPr>
          <a:lstStyle/>
          <a:p>
            <a:r>
              <a:rPr lang="it-IT" sz="2200">
                <a:solidFill>
                  <a:schemeClr val="accent5">
                    <a:lumMod val="75000"/>
                  </a:schemeClr>
                </a:solidFill>
                <a:latin typeface="+mn-lt"/>
                <a:ea typeface="+mn-lt"/>
                <a:cs typeface="+mn-lt"/>
              </a:rPr>
              <a:t>Glossary</a:t>
            </a:r>
          </a:p>
        </p:txBody>
      </p:sp>
      <p:sp>
        <p:nvSpPr>
          <p:cNvPr id="3" name="CasellaDiTesto 2">
            <a:extLst>
              <a:ext uri="{FF2B5EF4-FFF2-40B4-BE49-F238E27FC236}">
                <a16:creationId xmlns:a16="http://schemas.microsoft.com/office/drawing/2014/main" id="{1BE4A571-2272-19A0-8BBB-9B44962C3EBC}"/>
              </a:ext>
            </a:extLst>
          </p:cNvPr>
          <p:cNvSpPr txBox="1"/>
          <p:nvPr/>
        </p:nvSpPr>
        <p:spPr>
          <a:xfrm>
            <a:off x="195942" y="1001485"/>
            <a:ext cx="6346371" cy="80329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1200" b="1">
                <a:ea typeface="+mn-lt"/>
                <a:cs typeface="+mn-lt"/>
              </a:rPr>
              <a:t>Responsive Design:</a:t>
            </a:r>
            <a:r>
              <a:rPr lang="it-IT" sz="1200">
                <a:ea typeface="+mn-lt"/>
                <a:cs typeface="+mn-lt"/>
              </a:rPr>
              <a:t> Un design del sito web che si adatta automaticamente alle diverse dimensioni dello schermo, garantendo un'esperienza utente ottimale su dispositivi desktop, tablet e smartphone.</a:t>
            </a:r>
          </a:p>
          <a:p>
            <a:endParaRPr lang="it-IT" sz="1200">
              <a:ea typeface="+mn-lt"/>
              <a:cs typeface="+mn-lt"/>
            </a:endParaRPr>
          </a:p>
          <a:p>
            <a:r>
              <a:rPr lang="it-IT" sz="1200" b="1">
                <a:ea typeface="+mn-lt"/>
                <a:cs typeface="+mn-lt"/>
              </a:rPr>
              <a:t>Checkout Semplificato:</a:t>
            </a:r>
            <a:r>
              <a:rPr lang="it-IT" sz="1200">
                <a:ea typeface="+mn-lt"/>
                <a:cs typeface="+mn-lt"/>
              </a:rPr>
              <a:t> Un processo di pagamento intuitivo e veloce, riducendo al minimo il numero di passaggi necessari per completare un acquisto e migliorando l'esperienza utente.</a:t>
            </a:r>
          </a:p>
          <a:p>
            <a:endParaRPr lang="it-IT" sz="1200">
              <a:ea typeface="Calibri"/>
              <a:cs typeface="Calibri"/>
            </a:endParaRPr>
          </a:p>
          <a:p>
            <a:r>
              <a:rPr lang="it-IT" sz="1200" b="1">
                <a:ea typeface="+mn-lt"/>
                <a:cs typeface="+mn-lt"/>
              </a:rPr>
              <a:t>In-app </a:t>
            </a:r>
            <a:r>
              <a:rPr lang="it-IT" sz="1200" b="1" err="1">
                <a:ea typeface="+mn-lt"/>
                <a:cs typeface="+mn-lt"/>
              </a:rPr>
              <a:t>Purchase</a:t>
            </a:r>
            <a:r>
              <a:rPr lang="it-IT" sz="1200" b="1">
                <a:ea typeface="+mn-lt"/>
                <a:cs typeface="+mn-lt"/>
              </a:rPr>
              <a:t>:</a:t>
            </a:r>
            <a:r>
              <a:rPr lang="it-IT" sz="1200">
                <a:ea typeface="+mn-lt"/>
                <a:cs typeface="+mn-lt"/>
              </a:rPr>
              <a:t> La possibilità di effettuare acquisti direttamente attraverso un'applicazione mobile, semplificando il processo di acquisto per gli utenti mobili.</a:t>
            </a:r>
            <a:endParaRPr lang="it-IT">
              <a:ea typeface="Calibri"/>
              <a:cs typeface="Calibri"/>
            </a:endParaRPr>
          </a:p>
          <a:p>
            <a:endParaRPr lang="it-IT" sz="1200">
              <a:ea typeface="Calibri"/>
              <a:cs typeface="Calibri"/>
            </a:endParaRPr>
          </a:p>
          <a:p>
            <a:r>
              <a:rPr lang="it-IT" sz="1200" b="1">
                <a:ea typeface="+mn-lt"/>
                <a:cs typeface="+mn-lt"/>
              </a:rPr>
              <a:t>GDPR (General Data </a:t>
            </a:r>
            <a:r>
              <a:rPr lang="it-IT" sz="1200" b="1" err="1">
                <a:ea typeface="+mn-lt"/>
                <a:cs typeface="+mn-lt"/>
              </a:rPr>
              <a:t>Protection</a:t>
            </a:r>
            <a:r>
              <a:rPr lang="it-IT" sz="1200" b="1">
                <a:ea typeface="+mn-lt"/>
                <a:cs typeface="+mn-lt"/>
              </a:rPr>
              <a:t> </a:t>
            </a:r>
            <a:r>
              <a:rPr lang="it-IT" sz="1200" b="1" err="1">
                <a:ea typeface="+mn-lt"/>
                <a:cs typeface="+mn-lt"/>
              </a:rPr>
              <a:t>Regulation</a:t>
            </a:r>
            <a:r>
              <a:rPr lang="it-IT" sz="1200" b="1">
                <a:ea typeface="+mn-lt"/>
                <a:cs typeface="+mn-lt"/>
              </a:rPr>
              <a:t>):</a:t>
            </a:r>
            <a:r>
              <a:rPr lang="it-IT" sz="1200">
                <a:ea typeface="+mn-lt"/>
                <a:cs typeface="+mn-lt"/>
              </a:rPr>
              <a:t> Un regolamento che disciplina la protezione e la gestione dei dati personali dei cittadini dell'Unione Europea, influenzando anche le attività di e-commerce</a:t>
            </a:r>
          </a:p>
          <a:p>
            <a:endParaRPr lang="it-IT" sz="1200">
              <a:ea typeface="Calibri"/>
              <a:cs typeface="Calibri"/>
            </a:endParaRPr>
          </a:p>
          <a:p>
            <a:r>
              <a:rPr lang="it-IT" sz="1200" b="1">
                <a:ea typeface="+mn-lt"/>
                <a:cs typeface="+mn-lt"/>
              </a:rPr>
              <a:t>Load Time:</a:t>
            </a:r>
            <a:r>
              <a:rPr lang="it-IT" sz="1200">
                <a:ea typeface="+mn-lt"/>
                <a:cs typeface="+mn-lt"/>
              </a:rPr>
              <a:t> Il tempo richiesto per caricare completamente una pagina web, un fattore critico per l'esperienza utente e il posizionamento sui motori di ricerca.</a:t>
            </a:r>
            <a:endParaRPr lang="it-IT" sz="1200">
              <a:ea typeface="Calibri"/>
              <a:cs typeface="Calibri"/>
            </a:endParaRPr>
          </a:p>
          <a:p>
            <a:endParaRPr lang="it-IT" sz="1200">
              <a:ea typeface="Calibri"/>
              <a:cs typeface="Calibri"/>
            </a:endParaRPr>
          </a:p>
          <a:p>
            <a:r>
              <a:rPr lang="it-IT" sz="1200" b="1">
                <a:ea typeface="+mn-lt"/>
                <a:cs typeface="+mn-lt"/>
              </a:rPr>
              <a:t>CMS (Customer Management System):</a:t>
            </a:r>
            <a:r>
              <a:rPr lang="it-IT" sz="1200">
                <a:ea typeface="+mn-lt"/>
                <a:cs typeface="+mn-lt"/>
              </a:rPr>
              <a:t> Una piattaforma che gestisce e organizza le informazioni sui clienti, inclusi dettagli degli ordini, preferenze di acquisto e informazioni di contatto.</a:t>
            </a:r>
            <a:endParaRPr lang="it-IT" sz="1200">
              <a:ea typeface="Calibri"/>
              <a:cs typeface="Calibri"/>
            </a:endParaRPr>
          </a:p>
          <a:p>
            <a:endParaRPr lang="it-IT" sz="1200">
              <a:ea typeface="Calibri"/>
              <a:cs typeface="Calibri"/>
            </a:endParaRPr>
          </a:p>
          <a:p>
            <a:r>
              <a:rPr lang="it-IT" sz="1200" b="1">
                <a:ea typeface="+mn-lt"/>
                <a:cs typeface="+mn-lt"/>
              </a:rPr>
              <a:t>Payment Gateway:</a:t>
            </a:r>
            <a:r>
              <a:rPr lang="it-IT" sz="1200">
                <a:ea typeface="+mn-lt"/>
                <a:cs typeface="+mn-lt"/>
              </a:rPr>
              <a:t> Un servizio che consente l'elaborazione sicura dei pagamenti online, connettendo il negozio online con il sistema di pagamento del cliente.</a:t>
            </a:r>
            <a:endParaRPr lang="it-IT" sz="1200">
              <a:ea typeface="Calibri"/>
              <a:cs typeface="Calibri"/>
            </a:endParaRPr>
          </a:p>
          <a:p>
            <a:endParaRPr lang="it-IT" sz="1200">
              <a:ea typeface="Calibri"/>
              <a:cs typeface="Calibri"/>
            </a:endParaRPr>
          </a:p>
          <a:p>
            <a:r>
              <a:rPr lang="it-IT" sz="1200" b="1">
                <a:ea typeface="+mn-lt"/>
                <a:cs typeface="+mn-lt"/>
              </a:rPr>
              <a:t>Inventario in Tempo Reale:</a:t>
            </a:r>
            <a:r>
              <a:rPr lang="it-IT" sz="1200">
                <a:ea typeface="+mn-lt"/>
                <a:cs typeface="+mn-lt"/>
              </a:rPr>
              <a:t> Un sistema che tiene traccia in modo accurato e immediato delle disponibilità di prodotti, garantendo che gli utenti visualizzino informazioni aggiornate sullo stato degli articoli.</a:t>
            </a:r>
            <a:endParaRPr lang="it-IT" sz="1200">
              <a:ea typeface="Calibri"/>
              <a:cs typeface="Calibri"/>
            </a:endParaRPr>
          </a:p>
          <a:p>
            <a:endParaRPr lang="it-IT" sz="1200">
              <a:ea typeface="Calibri"/>
              <a:cs typeface="Calibri"/>
            </a:endParaRPr>
          </a:p>
          <a:p>
            <a:r>
              <a:rPr lang="it-IT" sz="1200" b="1">
                <a:ea typeface="+mn-lt"/>
                <a:cs typeface="+mn-lt"/>
              </a:rPr>
              <a:t>Carrello Acquisti:</a:t>
            </a:r>
            <a:r>
              <a:rPr lang="it-IT" sz="1200">
                <a:ea typeface="+mn-lt"/>
                <a:cs typeface="+mn-lt"/>
              </a:rPr>
              <a:t> Una funzionalità del sito che consente agli utenti di raccogliere gli articoli che desiderano acquistare prima di procedere al pagamento.</a:t>
            </a:r>
            <a:endParaRPr lang="it-IT" sz="1200">
              <a:ea typeface="Calibri"/>
              <a:cs typeface="Calibri"/>
            </a:endParaRPr>
          </a:p>
          <a:p>
            <a:endParaRPr lang="it-IT" sz="1200">
              <a:ea typeface="Calibri"/>
              <a:cs typeface="Calibri"/>
            </a:endParaRPr>
          </a:p>
          <a:p>
            <a:r>
              <a:rPr lang="it-IT" sz="1200" b="1">
                <a:ea typeface="+mn-lt"/>
                <a:cs typeface="+mn-lt"/>
              </a:rPr>
              <a:t>SSL (Secure </a:t>
            </a:r>
            <a:r>
              <a:rPr lang="it-IT" sz="1200" b="1" err="1">
                <a:ea typeface="+mn-lt"/>
                <a:cs typeface="+mn-lt"/>
              </a:rPr>
              <a:t>Socket</a:t>
            </a:r>
            <a:r>
              <a:rPr lang="it-IT" sz="1200" b="1">
                <a:ea typeface="+mn-lt"/>
                <a:cs typeface="+mn-lt"/>
              </a:rPr>
              <a:t> Layer):</a:t>
            </a:r>
            <a:r>
              <a:rPr lang="it-IT" sz="1200">
                <a:ea typeface="+mn-lt"/>
                <a:cs typeface="+mn-lt"/>
              </a:rPr>
              <a:t> Un protocollo di sicurezza che garantisce la crittografia delle informazioni scambiate tra il browser dell'utente e il server web, contribuendo a proteggere i dati sensibili come le informazioni di pagamento.</a:t>
            </a:r>
            <a:endParaRPr lang="it-IT" sz="1200">
              <a:ea typeface="Calibri"/>
              <a:cs typeface="Calibri"/>
            </a:endParaRPr>
          </a:p>
          <a:p>
            <a:endParaRPr lang="it-IT" sz="1200">
              <a:ea typeface="Calibri"/>
              <a:cs typeface="Calibri"/>
            </a:endParaRPr>
          </a:p>
          <a:p>
            <a:r>
              <a:rPr lang="it-IT" sz="1200" b="1">
                <a:ea typeface="+mn-lt"/>
                <a:cs typeface="+mn-lt"/>
              </a:rPr>
              <a:t>Gateway di Pagamento:</a:t>
            </a:r>
            <a:r>
              <a:rPr lang="it-IT" sz="1200">
                <a:ea typeface="+mn-lt"/>
                <a:cs typeface="+mn-lt"/>
              </a:rPr>
              <a:t> Un servizio che consente alle transazioni finanziarie di avvenire online, facilitando l'elaborazione dei pagamenti attraverso diverse modalità (carte di credito, PayPal, etc.).</a:t>
            </a:r>
          </a:p>
          <a:p>
            <a:endParaRPr lang="it-IT" sz="1200">
              <a:ea typeface="Calibri"/>
              <a:cs typeface="Calibri"/>
            </a:endParaRPr>
          </a:p>
          <a:p>
            <a:r>
              <a:rPr lang="it-IT" sz="1200" b="1">
                <a:ea typeface="+mn-lt"/>
                <a:cs typeface="+mn-lt"/>
              </a:rPr>
              <a:t>Responsive Images:</a:t>
            </a:r>
            <a:r>
              <a:rPr lang="it-IT" sz="1200">
                <a:ea typeface="+mn-lt"/>
                <a:cs typeface="+mn-lt"/>
              </a:rPr>
              <a:t> Immagini che si adattano dinamicamente alle dimensioni dello schermo del dispositivo, migliorando la velocità di caricamento e l'esperienza visiva su diverse piattaforme.</a:t>
            </a:r>
            <a:endParaRPr lang="it-IT" sz="1200">
              <a:ea typeface="Calibri"/>
              <a:cs typeface="Calibri"/>
            </a:endParaRPr>
          </a:p>
          <a:p>
            <a:endParaRPr lang="it-IT" sz="1200">
              <a:ea typeface="Calibri"/>
              <a:cs typeface="Calibri"/>
            </a:endParaRPr>
          </a:p>
          <a:p>
            <a:r>
              <a:rPr lang="it-IT" sz="1200" b="1">
                <a:ea typeface="+mn-lt"/>
                <a:cs typeface="+mn-lt"/>
              </a:rPr>
              <a:t>Push Notification:</a:t>
            </a:r>
            <a:r>
              <a:rPr lang="it-IT" sz="1200">
                <a:ea typeface="+mn-lt"/>
                <a:cs typeface="+mn-lt"/>
              </a:rPr>
              <a:t> Messaggi inviati direttamente ai dispositivi degli utenti per informarli su offerte speciali, promozioni o altri eventi importanti.</a:t>
            </a:r>
            <a:endParaRPr lang="it-IT"/>
          </a:p>
          <a:p>
            <a:endParaRPr lang="it-IT" sz="1200">
              <a:solidFill>
                <a:srgbClr val="D1D5DB"/>
              </a:solidFill>
              <a:ea typeface="Calibri"/>
              <a:cs typeface="Calibri"/>
            </a:endParaRPr>
          </a:p>
        </p:txBody>
      </p:sp>
    </p:spTree>
    <p:extLst>
      <p:ext uri="{BB962C8B-B14F-4D97-AF65-F5344CB8AC3E}">
        <p14:creationId xmlns:p14="http://schemas.microsoft.com/office/powerpoint/2010/main" val="3998064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BFAC871D-8588-4983-6883-70C022281EAA}"/>
              </a:ext>
            </a:extLst>
          </p:cNvPr>
          <p:cNvSpPr txBox="1"/>
          <p:nvPr/>
        </p:nvSpPr>
        <p:spPr>
          <a:xfrm>
            <a:off x="174171" y="195943"/>
            <a:ext cx="6520542"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1200" b="1">
                <a:ea typeface="+mn-lt"/>
                <a:cs typeface="+mn-lt"/>
              </a:rPr>
              <a:t>SKU (Stock Keeping Unit):</a:t>
            </a:r>
            <a:r>
              <a:rPr lang="it-IT" sz="1200">
                <a:ea typeface="+mn-lt"/>
                <a:cs typeface="+mn-lt"/>
              </a:rPr>
              <a:t> Un identificativo unico assegnato a ciascun prodotto per facilitare la gestione dell'inventario.</a:t>
            </a:r>
          </a:p>
          <a:p>
            <a:endParaRPr lang="it-IT" sz="1200">
              <a:ea typeface="+mn-lt"/>
              <a:cs typeface="+mn-lt"/>
            </a:endParaRPr>
          </a:p>
          <a:p>
            <a:r>
              <a:rPr lang="it-IT" sz="1200" b="1" err="1">
                <a:ea typeface="+mn-lt"/>
                <a:cs typeface="+mn-lt"/>
              </a:rPr>
              <a:t>Backend</a:t>
            </a:r>
            <a:r>
              <a:rPr lang="it-IT" sz="1200" b="1">
                <a:ea typeface="+mn-lt"/>
                <a:cs typeface="+mn-lt"/>
              </a:rPr>
              <a:t>:</a:t>
            </a:r>
            <a:r>
              <a:rPr lang="it-IT" sz="1200">
                <a:ea typeface="+mn-lt"/>
                <a:cs typeface="+mn-lt"/>
              </a:rPr>
              <a:t> La parte del sistema informatico che gestisce le funzioni non visibili agli utenti, inclusi i processi di gestione dell'inventario e di elaborazione degli ordini.</a:t>
            </a:r>
          </a:p>
          <a:p>
            <a:endParaRPr lang="it-IT" sz="1200">
              <a:cs typeface="Calibri"/>
            </a:endParaRPr>
          </a:p>
          <a:p>
            <a:r>
              <a:rPr lang="it-IT" sz="1200" b="1" err="1">
                <a:ea typeface="+mn-lt"/>
                <a:cs typeface="+mn-lt"/>
              </a:rPr>
              <a:t>Frontend</a:t>
            </a:r>
            <a:r>
              <a:rPr lang="it-IT" sz="1200" b="1">
                <a:ea typeface="+mn-lt"/>
                <a:cs typeface="+mn-lt"/>
              </a:rPr>
              <a:t>:</a:t>
            </a:r>
            <a:r>
              <a:rPr lang="it-IT" sz="1200">
                <a:ea typeface="+mn-lt"/>
                <a:cs typeface="+mn-lt"/>
              </a:rPr>
              <a:t> La parte di un sito web visibile agli utenti, che comprende il layout, il design e l'interfaccia utente.</a:t>
            </a:r>
          </a:p>
          <a:p>
            <a:endParaRPr lang="it-IT" sz="1200">
              <a:solidFill>
                <a:srgbClr val="D1D5DB"/>
              </a:solidFill>
              <a:cs typeface="Calibri"/>
            </a:endParaRPr>
          </a:p>
          <a:p>
            <a:endParaRPr lang="it-IT" sz="1200">
              <a:solidFill>
                <a:srgbClr val="D1D5DB"/>
              </a:solidFill>
              <a:cs typeface="Calibri"/>
            </a:endParaRPr>
          </a:p>
        </p:txBody>
      </p:sp>
    </p:spTree>
    <p:extLst>
      <p:ext uri="{BB962C8B-B14F-4D97-AF65-F5344CB8AC3E}">
        <p14:creationId xmlns:p14="http://schemas.microsoft.com/office/powerpoint/2010/main" val="375148279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B29A048514E1049B59C4773BFD22B9C" ma:contentTypeVersion="9" ma:contentTypeDescription="Create a new document." ma:contentTypeScope="" ma:versionID="a91c4f6139673e88365df82e5edc0c91">
  <xsd:schema xmlns:xsd="http://www.w3.org/2001/XMLSchema" xmlns:xs="http://www.w3.org/2001/XMLSchema" xmlns:p="http://schemas.microsoft.com/office/2006/metadata/properties" xmlns:ns2="1768fc42-c63f-4a8e-a7c3-09cab729fae5" xmlns:ns3="001b4e81-2c84-46fb-8701-4cd7fc2318f7" targetNamespace="http://schemas.microsoft.com/office/2006/metadata/properties" ma:root="true" ma:fieldsID="ea2726135ddd17df4e467a306871a96b" ns2:_="" ns3:_="">
    <xsd:import namespace="1768fc42-c63f-4a8e-a7c3-09cab729fae5"/>
    <xsd:import namespace="001b4e81-2c84-46fb-8701-4cd7fc2318f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68fc42-c63f-4a8e-a7c3-09cab729fa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6d8ebb03-dafb-4962-b73d-0c89554705f8"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01b4e81-2c84-46fb-8701-4cd7fc2318f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1c936b37-7464-4a8c-94e4-9d040f73c482}" ma:internalName="TaxCatchAll" ma:showField="CatchAllData" ma:web="001b4e81-2c84-46fb-8701-4cd7fc2318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768fc42-c63f-4a8e-a7c3-09cab729fae5">
      <Terms xmlns="http://schemas.microsoft.com/office/infopath/2007/PartnerControls"/>
    </lcf76f155ced4ddcb4097134ff3c332f>
    <TaxCatchAll xmlns="001b4e81-2c84-46fb-8701-4cd7fc2318f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4074D0-AE34-4374-90B3-E73C2631E26F}">
  <ds:schemaRefs>
    <ds:schemaRef ds:uri="001b4e81-2c84-46fb-8701-4cd7fc2318f7"/>
    <ds:schemaRef ds:uri="1768fc42-c63f-4a8e-a7c3-09cab729fae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F8C37CD-E7B5-477F-AD00-FF2F6B050EA5}">
  <ds:schemaRefs>
    <ds:schemaRef ds:uri="001b4e81-2c84-46fb-8701-4cd7fc2318f7"/>
    <ds:schemaRef ds:uri="1768fc42-c63f-4a8e-a7c3-09cab729fae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F66FB23-5F7E-4F0E-AE13-A4D6003A892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Presentazione su schermo (4:3)</PresentationFormat>
  <Slides>20</Slides>
  <Notes>0</Notes>
  <HiddenSlides>0</HiddenSlides>
  <ScaleCrop>false</ScaleCrop>
  <HeadingPairs>
    <vt:vector size="4" baseType="variant">
      <vt:variant>
        <vt:lpstr>Tema</vt:lpstr>
      </vt:variant>
      <vt:variant>
        <vt:i4>1</vt:i4>
      </vt:variant>
      <vt:variant>
        <vt:lpstr>Titoli diapositive</vt:lpstr>
      </vt:variant>
      <vt:variant>
        <vt:i4>20</vt:i4>
      </vt:variant>
    </vt:vector>
  </HeadingPairs>
  <TitlesOfParts>
    <vt:vector size="21" baseType="lpstr">
      <vt:lpstr>Tema di Office</vt:lpstr>
      <vt:lpstr>Presentazione standard di PowerPoint</vt:lpstr>
      <vt:lpstr>Indice</vt:lpstr>
      <vt:lpstr>1.0 Introduzione</vt:lpstr>
      <vt:lpstr>Response time SmartBuyPhone dovrebbe fornire una risposta tempestiva, assicurando interazioni efficienti degli utenti con la piattaforma. Availability  SmartBuyPhone dovrebbe garantire un elevato livello di disponibilità, assicurando che il sito web sia accessibile agli utenti senza tempi di inattività significativi. Security  SmartBuyPhone dovrebbe assicurare che i dati degli utenti siano gestiti in modo sicuro, implementando robuste misure di sicurezza per proteggere da accessi non autorizzati e violazioni dei dati. Maintenance cost  SmartBuyPhone dovrebbe assicurare costi di manutenzione contenuti, riducendo al minimo le spese continue associate agli aggiornamenti e alle migliorie del sistema. Portability  SmartBuyPhone dovrebbe essere progettato come un sistema multi-piattaforma, garantendo la compatibilità su vari dispositivi e sistemi operativi.  Usability  SmartBuyPhone dovrebbe presentare un'interfaccia intuitiva, offrendo agli utenti un'esperienza amichevole che richiede sforzi minimi per navigare e effettuare acquisti.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Glossary</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cp:revision>2</cp:revision>
  <dcterms:created xsi:type="dcterms:W3CDTF">2023-11-15T08:25:12Z</dcterms:created>
  <dcterms:modified xsi:type="dcterms:W3CDTF">2024-01-16T08:05:26Z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0x010100DB29A048514E1049B59C4773BFD22B9C</vt:lpwstr>
  </property>
  <property fmtid="{D5CDD505-2E9C-101B-9397-08002B2CF9AE}" pid="3" name="MediaServiceImageTags">
    <vt:lpwstr/>
  </property>
</Properties>
</file>